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6"/>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70" r:id="rId18"/>
    <p:sldId id="273" r:id="rId19"/>
    <p:sldId id="269" r:id="rId20"/>
    <p:sldId id="267"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C3EC55-6C3F-5E59-20F5-453D18E06D97}" v="207" dt="2024-09-25T17:55:14.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B01161-91B0-4396-95AD-2C0CEB770B7A}" type="datetimeFigureOut">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1FC96A-DB43-4A94-9EE0-35FAC04DE437}" type="slidenum">
              <a:t>‹#›</a:t>
            </a:fld>
            <a:endParaRPr lang="en-US"/>
          </a:p>
        </p:txBody>
      </p:sp>
    </p:spTree>
    <p:extLst>
      <p:ext uri="{BB962C8B-B14F-4D97-AF65-F5344CB8AC3E}">
        <p14:creationId xmlns:p14="http://schemas.microsoft.com/office/powerpoint/2010/main" val="1522472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a:t>
            </a:fld>
            <a:endParaRPr lang="en-US"/>
          </a:p>
        </p:txBody>
      </p:sp>
    </p:spTree>
    <p:extLst>
      <p:ext uri="{BB962C8B-B14F-4D97-AF65-F5344CB8AC3E}">
        <p14:creationId xmlns:p14="http://schemas.microsoft.com/office/powerpoint/2010/main" val="2039252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2</a:t>
            </a:fld>
            <a:endParaRPr lang="en-US"/>
          </a:p>
        </p:txBody>
      </p:sp>
    </p:spTree>
    <p:extLst>
      <p:ext uri="{BB962C8B-B14F-4D97-AF65-F5344CB8AC3E}">
        <p14:creationId xmlns:p14="http://schemas.microsoft.com/office/powerpoint/2010/main" val="3843455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3</a:t>
            </a:fld>
            <a:endParaRPr lang="en-US"/>
          </a:p>
        </p:txBody>
      </p:sp>
    </p:spTree>
    <p:extLst>
      <p:ext uri="{BB962C8B-B14F-4D97-AF65-F5344CB8AC3E}">
        <p14:creationId xmlns:p14="http://schemas.microsoft.com/office/powerpoint/2010/main" val="2567528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4</a:t>
            </a:fld>
            <a:endParaRPr lang="en-US"/>
          </a:p>
        </p:txBody>
      </p:sp>
    </p:spTree>
    <p:extLst>
      <p:ext uri="{BB962C8B-B14F-4D97-AF65-F5344CB8AC3E}">
        <p14:creationId xmlns:p14="http://schemas.microsoft.com/office/powerpoint/2010/main" val="156731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5</a:t>
            </a:fld>
            <a:endParaRPr lang="en-US"/>
          </a:p>
        </p:txBody>
      </p:sp>
    </p:spTree>
    <p:extLst>
      <p:ext uri="{BB962C8B-B14F-4D97-AF65-F5344CB8AC3E}">
        <p14:creationId xmlns:p14="http://schemas.microsoft.com/office/powerpoint/2010/main" val="52802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6</a:t>
            </a:fld>
            <a:endParaRPr lang="en-US"/>
          </a:p>
        </p:txBody>
      </p:sp>
    </p:spTree>
    <p:extLst>
      <p:ext uri="{BB962C8B-B14F-4D97-AF65-F5344CB8AC3E}">
        <p14:creationId xmlns:p14="http://schemas.microsoft.com/office/powerpoint/2010/main" val="30171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7</a:t>
            </a:fld>
            <a:endParaRPr lang="en-US"/>
          </a:p>
        </p:txBody>
      </p:sp>
    </p:spTree>
    <p:extLst>
      <p:ext uri="{BB962C8B-B14F-4D97-AF65-F5344CB8AC3E}">
        <p14:creationId xmlns:p14="http://schemas.microsoft.com/office/powerpoint/2010/main" val="2649545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8</a:t>
            </a:fld>
            <a:endParaRPr lang="en-US"/>
          </a:p>
        </p:txBody>
      </p:sp>
    </p:spTree>
    <p:extLst>
      <p:ext uri="{BB962C8B-B14F-4D97-AF65-F5344CB8AC3E}">
        <p14:creationId xmlns:p14="http://schemas.microsoft.com/office/powerpoint/2010/main" val="1669049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9</a:t>
            </a:fld>
            <a:endParaRPr lang="en-US"/>
          </a:p>
        </p:txBody>
      </p:sp>
    </p:spTree>
    <p:extLst>
      <p:ext uri="{BB962C8B-B14F-4D97-AF65-F5344CB8AC3E}">
        <p14:creationId xmlns:p14="http://schemas.microsoft.com/office/powerpoint/2010/main" val="816775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10</a:t>
            </a:fld>
            <a:endParaRPr lang="en-US"/>
          </a:p>
        </p:txBody>
      </p:sp>
    </p:spTree>
    <p:extLst>
      <p:ext uri="{BB962C8B-B14F-4D97-AF65-F5344CB8AC3E}">
        <p14:creationId xmlns:p14="http://schemas.microsoft.com/office/powerpoint/2010/main" val="4040461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11</a:t>
            </a:fld>
            <a:endParaRPr lang="en-US"/>
          </a:p>
        </p:txBody>
      </p:sp>
    </p:spTree>
    <p:extLst>
      <p:ext uri="{BB962C8B-B14F-4D97-AF65-F5344CB8AC3E}">
        <p14:creationId xmlns:p14="http://schemas.microsoft.com/office/powerpoint/2010/main" val="42347444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12</a:t>
            </a:fld>
            <a:endParaRPr lang="en-US"/>
          </a:p>
        </p:txBody>
      </p:sp>
    </p:spTree>
    <p:extLst>
      <p:ext uri="{BB962C8B-B14F-4D97-AF65-F5344CB8AC3E}">
        <p14:creationId xmlns:p14="http://schemas.microsoft.com/office/powerpoint/2010/main" val="2754267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13</a:t>
            </a:fld>
            <a:endParaRPr lang="en-US"/>
          </a:p>
        </p:txBody>
      </p:sp>
    </p:spTree>
    <p:extLst>
      <p:ext uri="{BB962C8B-B14F-4D97-AF65-F5344CB8AC3E}">
        <p14:creationId xmlns:p14="http://schemas.microsoft.com/office/powerpoint/2010/main" val="371845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14</a:t>
            </a:fld>
            <a:endParaRPr lang="en-US"/>
          </a:p>
        </p:txBody>
      </p:sp>
    </p:spTree>
    <p:extLst>
      <p:ext uri="{BB962C8B-B14F-4D97-AF65-F5344CB8AC3E}">
        <p14:creationId xmlns:p14="http://schemas.microsoft.com/office/powerpoint/2010/main" val="3151698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15</a:t>
            </a:fld>
            <a:endParaRPr lang="en-US"/>
          </a:p>
        </p:txBody>
      </p:sp>
    </p:spTree>
    <p:extLst>
      <p:ext uri="{BB962C8B-B14F-4D97-AF65-F5344CB8AC3E}">
        <p14:creationId xmlns:p14="http://schemas.microsoft.com/office/powerpoint/2010/main" val="3548147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16</a:t>
            </a:fld>
            <a:endParaRPr lang="en-US"/>
          </a:p>
        </p:txBody>
      </p:sp>
    </p:spTree>
    <p:extLst>
      <p:ext uri="{BB962C8B-B14F-4D97-AF65-F5344CB8AC3E}">
        <p14:creationId xmlns:p14="http://schemas.microsoft.com/office/powerpoint/2010/main" val="3421712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17</a:t>
            </a:fld>
            <a:endParaRPr lang="en-US"/>
          </a:p>
        </p:txBody>
      </p:sp>
    </p:spTree>
    <p:extLst>
      <p:ext uri="{BB962C8B-B14F-4D97-AF65-F5344CB8AC3E}">
        <p14:creationId xmlns:p14="http://schemas.microsoft.com/office/powerpoint/2010/main" val="4105454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1FC96A-DB43-4A94-9EE0-35FAC04DE437}" type="slidenum">
              <a:t>18</a:t>
            </a:fld>
            <a:endParaRPr lang="en-US"/>
          </a:p>
        </p:txBody>
      </p:sp>
    </p:spTree>
    <p:extLst>
      <p:ext uri="{BB962C8B-B14F-4D97-AF65-F5344CB8AC3E}">
        <p14:creationId xmlns:p14="http://schemas.microsoft.com/office/powerpoint/2010/main" val="3584334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atcocorporatedigital.atlassian.net/wiki/spaces/PRCR/pages/2343141379/RUBIX+-+Notification+Queue+Documentation"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tcocorporatedigital.atlassian.net/wiki/spaces/PRCR/pages/2343141379/RUBIX+-+Notification+Queue+Documentatio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RUBIX – Notifications </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Summary of the Notification Queue process and how communications are sent to the customer</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C46F8-48F9-7322-9001-A7948EC5C291}"/>
              </a:ext>
            </a:extLst>
          </p:cNvPr>
          <p:cNvSpPr>
            <a:spLocks noGrp="1"/>
          </p:cNvSpPr>
          <p:nvPr>
            <p:ph type="title"/>
          </p:nvPr>
        </p:nvSpPr>
        <p:spPr/>
        <p:txBody>
          <a:bodyPr/>
          <a:lstStyle/>
          <a:p>
            <a:r>
              <a:rPr lang="en-US" dirty="0"/>
              <a:t>Benefits of the Notification Queue Process</a:t>
            </a:r>
          </a:p>
        </p:txBody>
      </p:sp>
      <p:sp>
        <p:nvSpPr>
          <p:cNvPr id="3" name="Content Placeholder 2">
            <a:extLst>
              <a:ext uri="{FF2B5EF4-FFF2-40B4-BE49-F238E27FC236}">
                <a16:creationId xmlns:a16="http://schemas.microsoft.com/office/drawing/2014/main" id="{7138AA17-CC1D-34B2-21FD-DEE8BF7B12C6}"/>
              </a:ext>
            </a:extLst>
          </p:cNvPr>
          <p:cNvSpPr>
            <a:spLocks noGrp="1"/>
          </p:cNvSpPr>
          <p:nvPr>
            <p:ph idx="1"/>
          </p:nvPr>
        </p:nvSpPr>
        <p:spPr/>
        <p:txBody>
          <a:bodyPr vert="horz" lIns="91440" tIns="45720" rIns="91440" bIns="45720" rtlCol="0" anchor="t">
            <a:normAutofit lnSpcReduction="10000"/>
          </a:bodyPr>
          <a:lstStyle/>
          <a:p>
            <a:r>
              <a:rPr lang="en-US" dirty="0"/>
              <a:t>Separates business process from when communications are sent to the customer.</a:t>
            </a:r>
          </a:p>
          <a:p>
            <a:pPr lvl="1">
              <a:buFont typeface="Courier New" panose="020B0604020202020204" pitchFamily="34" charset="0"/>
              <a:buChar char="o"/>
            </a:pPr>
            <a:r>
              <a:rPr lang="en-US" dirty="0"/>
              <a:t>For example, we can have an overnight process, such as invoicing, that will determine whether a customer requires a notification, and the means in which to send it.</a:t>
            </a:r>
          </a:p>
          <a:p>
            <a:pPr lvl="1">
              <a:buFont typeface="Courier New" panose="020B0604020202020204" pitchFamily="34" charset="0"/>
              <a:buChar char="o"/>
            </a:pPr>
            <a:r>
              <a:rPr lang="en-US" dirty="0"/>
              <a:t>The overnight process itself does not send the notification.</a:t>
            </a:r>
          </a:p>
          <a:p>
            <a:pPr lvl="1">
              <a:buFont typeface="Courier New" panose="020B0604020202020204" pitchFamily="34" charset="0"/>
              <a:buChar char="o"/>
            </a:pPr>
            <a:r>
              <a:rPr lang="en-US" dirty="0"/>
              <a:t>A separate notification process will pick up the pending notifications and determine if they should be sent immediately, or during business hours</a:t>
            </a:r>
          </a:p>
          <a:p>
            <a:pPr lvl="1">
              <a:buFont typeface="Courier New" panose="020B0604020202020204" pitchFamily="34" charset="0"/>
              <a:buChar char="o"/>
            </a:pPr>
            <a:r>
              <a:rPr lang="en-US" dirty="0"/>
              <a:t>In this example, the notification process will determine that invoice notifications should be sent during business hours, and wait accordingly</a:t>
            </a:r>
          </a:p>
          <a:p>
            <a:r>
              <a:rPr lang="en-US" dirty="0"/>
              <a:t>Provides a consistent process for resending a given communication, whether it's Email, SMS, or Mail</a:t>
            </a:r>
          </a:p>
        </p:txBody>
      </p:sp>
    </p:spTree>
    <p:extLst>
      <p:ext uri="{BB962C8B-B14F-4D97-AF65-F5344CB8AC3E}">
        <p14:creationId xmlns:p14="http://schemas.microsoft.com/office/powerpoint/2010/main" val="2772558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4D13-B072-6CB5-B1F5-22E64BCACC72}"/>
              </a:ext>
            </a:extLst>
          </p:cNvPr>
          <p:cNvSpPr>
            <a:spLocks noGrp="1"/>
          </p:cNvSpPr>
          <p:nvPr>
            <p:ph type="title"/>
          </p:nvPr>
        </p:nvSpPr>
        <p:spPr/>
        <p:txBody>
          <a:bodyPr/>
          <a:lstStyle/>
          <a:p>
            <a:r>
              <a:rPr lang="en-US" dirty="0"/>
              <a:t>How does it work?</a:t>
            </a:r>
          </a:p>
        </p:txBody>
      </p:sp>
      <p:sp>
        <p:nvSpPr>
          <p:cNvPr id="3" name="Content Placeholder 2">
            <a:extLst>
              <a:ext uri="{FF2B5EF4-FFF2-40B4-BE49-F238E27FC236}">
                <a16:creationId xmlns:a16="http://schemas.microsoft.com/office/drawing/2014/main" id="{ECB08E49-02FE-58CF-F618-F16D3274538A}"/>
              </a:ext>
            </a:extLst>
          </p:cNvPr>
          <p:cNvSpPr>
            <a:spLocks noGrp="1"/>
          </p:cNvSpPr>
          <p:nvPr>
            <p:ph idx="1"/>
          </p:nvPr>
        </p:nvSpPr>
        <p:spPr/>
        <p:txBody>
          <a:bodyPr vert="horz" lIns="91440" tIns="45720" rIns="91440" bIns="45720" rtlCol="0" anchor="t">
            <a:normAutofit fontScale="85000" lnSpcReduction="20000"/>
          </a:bodyPr>
          <a:lstStyle/>
          <a:p>
            <a:r>
              <a:rPr lang="en-US" dirty="0"/>
              <a:t>The main Object that supports notifications is called </a:t>
            </a:r>
            <a:r>
              <a:rPr lang="en-US" err="1"/>
              <a:t>Notification_Queue__c</a:t>
            </a:r>
            <a:r>
              <a:rPr lang="en-US" dirty="0"/>
              <a:t> (Notification Queue)</a:t>
            </a:r>
          </a:p>
          <a:p>
            <a:r>
              <a:rPr lang="en-US" dirty="0"/>
              <a:t>This object contains all the necessary information needed to send a message on a given channel. For example, if we're sending an email, it will contain the template to use, the email to send to and when to send the email</a:t>
            </a:r>
          </a:p>
          <a:p>
            <a:r>
              <a:rPr lang="en-US" dirty="0"/>
              <a:t>The timing of when to send the message is determined by the notification queue record's Send Time field. </a:t>
            </a:r>
          </a:p>
          <a:p>
            <a:pPr lvl="1">
              <a:buFont typeface="Courier New" panose="020B0604020202020204" pitchFamily="34" charset="0"/>
              <a:buChar char="o"/>
            </a:pPr>
            <a:r>
              <a:rPr lang="en-US" dirty="0"/>
              <a:t>Immediate: Send right away</a:t>
            </a:r>
          </a:p>
          <a:p>
            <a:pPr lvl="1">
              <a:buFont typeface="Courier New" panose="020B0604020202020204" pitchFamily="34" charset="0"/>
              <a:buChar char="o"/>
            </a:pPr>
            <a:r>
              <a:rPr lang="en-US" dirty="0"/>
              <a:t>Business Hours: Send during the business hours. The Business Hours Name field will identify which Salesforce Business Hours setting is being adhered to. </a:t>
            </a:r>
          </a:p>
          <a:p>
            <a:pPr lvl="1">
              <a:buFont typeface="Courier New" panose="020B0604020202020204" pitchFamily="34" charset="0"/>
              <a:buChar char="o"/>
            </a:pPr>
            <a:r>
              <a:rPr lang="en-US" dirty="0"/>
              <a:t>Send Next: Send on the next notification batch process, runs every 30 min</a:t>
            </a:r>
          </a:p>
          <a:p>
            <a:pPr lvl="1">
              <a:buFont typeface="Courier New" panose="020B0604020202020204" pitchFamily="34" charset="0"/>
              <a:buChar char="o"/>
            </a:pPr>
            <a:r>
              <a:rPr lang="en-US" dirty="0"/>
              <a:t>Custom: Send at the specified time</a:t>
            </a:r>
          </a:p>
          <a:p>
            <a:pPr lvl="1">
              <a:buFont typeface="Courier New" panose="020B0604020202020204" pitchFamily="34" charset="0"/>
              <a:buChar char="o"/>
            </a:pPr>
            <a:r>
              <a:rPr lang="en-US" dirty="0"/>
              <a:t>External Process: Let another system be responsible for sending the message. Currently this is used by Conga Batch. We use the conga batch schedule to generate documents at certain intervals throughout the day.</a:t>
            </a:r>
          </a:p>
          <a:p>
            <a:pPr lvl="1">
              <a:buFont typeface="Courier New" panose="020B0604020202020204" pitchFamily="34" charset="0"/>
              <a:buChar char="o"/>
            </a:pPr>
            <a:endParaRPr lang="en-US" dirty="0"/>
          </a:p>
          <a:p>
            <a:endParaRPr lang="en-US" dirty="0"/>
          </a:p>
        </p:txBody>
      </p:sp>
    </p:spTree>
    <p:extLst>
      <p:ext uri="{BB962C8B-B14F-4D97-AF65-F5344CB8AC3E}">
        <p14:creationId xmlns:p14="http://schemas.microsoft.com/office/powerpoint/2010/main" val="359979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F65F4-BF09-D5FC-4C33-1DC1B817228C}"/>
              </a:ext>
            </a:extLst>
          </p:cNvPr>
          <p:cNvSpPr>
            <a:spLocks noGrp="1"/>
          </p:cNvSpPr>
          <p:nvPr>
            <p:ph type="title"/>
          </p:nvPr>
        </p:nvSpPr>
        <p:spPr/>
        <p:txBody>
          <a:bodyPr/>
          <a:lstStyle/>
          <a:p>
            <a:r>
              <a:rPr lang="en-US" dirty="0"/>
              <a:t>Resend an Email or SMS Notification</a:t>
            </a:r>
          </a:p>
        </p:txBody>
      </p:sp>
      <p:sp>
        <p:nvSpPr>
          <p:cNvPr id="3" name="Content Placeholder 2">
            <a:extLst>
              <a:ext uri="{FF2B5EF4-FFF2-40B4-BE49-F238E27FC236}">
                <a16:creationId xmlns:a16="http://schemas.microsoft.com/office/drawing/2014/main" id="{3A77C2B0-9502-2E17-5696-5CA3D3339785}"/>
              </a:ext>
            </a:extLst>
          </p:cNvPr>
          <p:cNvSpPr>
            <a:spLocks noGrp="1"/>
          </p:cNvSpPr>
          <p:nvPr>
            <p:ph idx="1"/>
          </p:nvPr>
        </p:nvSpPr>
        <p:spPr/>
        <p:txBody>
          <a:bodyPr vert="horz" lIns="91440" tIns="45720" rIns="91440" bIns="45720" rtlCol="0" anchor="t">
            <a:normAutofit/>
          </a:bodyPr>
          <a:lstStyle/>
          <a:p>
            <a:r>
              <a:rPr lang="en-US" dirty="0"/>
              <a:t>To resend a notification change the status to Scheduled</a:t>
            </a:r>
          </a:p>
          <a:p>
            <a:r>
              <a:rPr lang="en-US" dirty="0"/>
              <a:t>If the Send Time is set to Immediate, the process will attempt to send the notification immediately.</a:t>
            </a:r>
          </a:p>
          <a:p>
            <a:r>
              <a:rPr lang="en-US" dirty="0"/>
              <a:t>If Send Time is set to Business Hours, Next Send or Custom, then the automated process (runs every 30 min) will pick up he record and determine whether it should be sent at that time.</a:t>
            </a:r>
          </a:p>
        </p:txBody>
      </p:sp>
    </p:spTree>
    <p:extLst>
      <p:ext uri="{BB962C8B-B14F-4D97-AF65-F5344CB8AC3E}">
        <p14:creationId xmlns:p14="http://schemas.microsoft.com/office/powerpoint/2010/main" val="2867859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8EFFD-0505-3984-676F-BA9483E69136}"/>
              </a:ext>
            </a:extLst>
          </p:cNvPr>
          <p:cNvSpPr>
            <a:spLocks noGrp="1"/>
          </p:cNvSpPr>
          <p:nvPr>
            <p:ph type="title"/>
          </p:nvPr>
        </p:nvSpPr>
        <p:spPr/>
        <p:txBody>
          <a:bodyPr/>
          <a:lstStyle/>
          <a:p>
            <a:r>
              <a:rPr lang="en-US" dirty="0"/>
              <a:t>Recreate Conga Document/PDF (Type = Mail)</a:t>
            </a:r>
          </a:p>
        </p:txBody>
      </p:sp>
      <p:sp>
        <p:nvSpPr>
          <p:cNvPr id="3" name="Content Placeholder 2">
            <a:extLst>
              <a:ext uri="{FF2B5EF4-FFF2-40B4-BE49-F238E27FC236}">
                <a16:creationId xmlns:a16="http://schemas.microsoft.com/office/drawing/2014/main" id="{D1A47B3C-EFE2-3DA0-09C6-E86A1A1E61F0}"/>
              </a:ext>
            </a:extLst>
          </p:cNvPr>
          <p:cNvSpPr>
            <a:spLocks noGrp="1"/>
          </p:cNvSpPr>
          <p:nvPr>
            <p:ph idx="1"/>
          </p:nvPr>
        </p:nvSpPr>
        <p:spPr/>
        <p:txBody>
          <a:bodyPr vert="horz" lIns="91440" tIns="45720" rIns="91440" bIns="45720" rtlCol="0" anchor="t">
            <a:normAutofit/>
          </a:bodyPr>
          <a:lstStyle/>
          <a:p>
            <a:r>
              <a:rPr lang="en-US" dirty="0"/>
              <a:t>To re-run the creation of a Conga Document/PDF when the Type is set to Mail, change the Status to Scheduled</a:t>
            </a:r>
          </a:p>
          <a:p>
            <a:r>
              <a:rPr lang="en-US" dirty="0"/>
              <a:t>The system will immediately create the document using either conga composer or trigger, depending on whether you have a composer license or not</a:t>
            </a:r>
          </a:p>
          <a:p>
            <a:r>
              <a:rPr lang="en-US" dirty="0"/>
              <a:t>NOTE: In these situations, when Type is equal to Mail, the Send Time is set to Immediate, that is why the document gets created right away.</a:t>
            </a:r>
          </a:p>
        </p:txBody>
      </p:sp>
    </p:spTree>
    <p:extLst>
      <p:ext uri="{BB962C8B-B14F-4D97-AF65-F5344CB8AC3E}">
        <p14:creationId xmlns:p14="http://schemas.microsoft.com/office/powerpoint/2010/main" val="2397458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8EFFD-0505-3984-676F-BA9483E69136}"/>
              </a:ext>
            </a:extLst>
          </p:cNvPr>
          <p:cNvSpPr>
            <a:spLocks noGrp="1"/>
          </p:cNvSpPr>
          <p:nvPr>
            <p:ph type="title"/>
          </p:nvPr>
        </p:nvSpPr>
        <p:spPr/>
        <p:txBody>
          <a:bodyPr>
            <a:normAutofit fontScale="90000"/>
          </a:bodyPr>
          <a:lstStyle/>
          <a:p>
            <a:r>
              <a:rPr lang="en-US" dirty="0"/>
              <a:t>Recreate Conga Batch Document/PDF (Type = </a:t>
            </a:r>
            <a:br>
              <a:rPr lang="en-US" dirty="0"/>
            </a:br>
            <a:r>
              <a:rPr lang="en-US" dirty="0"/>
              <a:t>Batch Mail)</a:t>
            </a:r>
          </a:p>
        </p:txBody>
      </p:sp>
      <p:sp>
        <p:nvSpPr>
          <p:cNvPr id="3" name="Content Placeholder 2">
            <a:extLst>
              <a:ext uri="{FF2B5EF4-FFF2-40B4-BE49-F238E27FC236}">
                <a16:creationId xmlns:a16="http://schemas.microsoft.com/office/drawing/2014/main" id="{D1A47B3C-EFE2-3DA0-09C6-E86A1A1E61F0}"/>
              </a:ext>
            </a:extLst>
          </p:cNvPr>
          <p:cNvSpPr>
            <a:spLocks noGrp="1"/>
          </p:cNvSpPr>
          <p:nvPr>
            <p:ph idx="1"/>
          </p:nvPr>
        </p:nvSpPr>
        <p:spPr/>
        <p:txBody>
          <a:bodyPr vert="horz" lIns="91440" tIns="45720" rIns="91440" bIns="45720" rtlCol="0" anchor="t">
            <a:normAutofit/>
          </a:bodyPr>
          <a:lstStyle/>
          <a:p>
            <a:r>
              <a:rPr lang="en-US" dirty="0"/>
              <a:t>To re-run the creation of a Conga Document/PDF when the Type is set to Batch Mail, change the Status to Scheduled</a:t>
            </a:r>
          </a:p>
          <a:p>
            <a:r>
              <a:rPr lang="en-US" dirty="0"/>
              <a:t>The corresponding Conga Batch job will pick up the record when it runs, and will attempt to create the pdf again</a:t>
            </a:r>
          </a:p>
        </p:txBody>
      </p:sp>
    </p:spTree>
    <p:extLst>
      <p:ext uri="{BB962C8B-B14F-4D97-AF65-F5344CB8AC3E}">
        <p14:creationId xmlns:p14="http://schemas.microsoft.com/office/powerpoint/2010/main" val="3463569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B8338-14C1-B6B7-5210-5AB105788A67}"/>
              </a:ext>
            </a:extLst>
          </p:cNvPr>
          <p:cNvSpPr>
            <a:spLocks noGrp="1"/>
          </p:cNvSpPr>
          <p:nvPr>
            <p:ph type="title"/>
          </p:nvPr>
        </p:nvSpPr>
        <p:spPr/>
        <p:txBody>
          <a:bodyPr/>
          <a:lstStyle/>
          <a:p>
            <a:r>
              <a:rPr lang="en-US"/>
              <a:t>Mailing PDF to Customers End to End </a:t>
            </a:r>
            <a:r>
              <a:rPr lang="en-US" dirty="0"/>
              <a:t>Process</a:t>
            </a:r>
          </a:p>
        </p:txBody>
      </p:sp>
      <p:sp>
        <p:nvSpPr>
          <p:cNvPr id="3" name="Content Placeholder 2">
            <a:extLst>
              <a:ext uri="{FF2B5EF4-FFF2-40B4-BE49-F238E27FC236}">
                <a16:creationId xmlns:a16="http://schemas.microsoft.com/office/drawing/2014/main" id="{031643B9-75AB-1012-8F8B-EB4D342461B3}"/>
              </a:ext>
            </a:extLst>
          </p:cNvPr>
          <p:cNvSpPr>
            <a:spLocks noGrp="1"/>
          </p:cNvSpPr>
          <p:nvPr>
            <p:ph idx="1"/>
          </p:nvPr>
        </p:nvSpPr>
        <p:spPr/>
        <p:txBody>
          <a:bodyPr vert="horz" lIns="91440" tIns="45720" rIns="91440" bIns="45720" rtlCol="0" anchor="t">
            <a:normAutofit fontScale="92500" lnSpcReduction="10000"/>
          </a:bodyPr>
          <a:lstStyle/>
          <a:p>
            <a:r>
              <a:rPr lang="en-US" dirty="0"/>
              <a:t>When a Rubix related document is generated via Conga, it will initially land in the Mailouts Library (Files &gt; Libraries &gt; Mailouts)</a:t>
            </a:r>
          </a:p>
          <a:p>
            <a:r>
              <a:rPr lang="en-US" dirty="0">
                <a:ea typeface="+mn-lt"/>
                <a:cs typeface="+mn-lt"/>
              </a:rPr>
              <a:t>When the file lands in this folder, the system will use the ID in the file name to:</a:t>
            </a:r>
            <a:endParaRPr lang="en-US" dirty="0"/>
          </a:p>
          <a:p>
            <a:pPr lvl="1">
              <a:buFont typeface="Courier New" panose="020B0604020202020204" pitchFamily="34" charset="0"/>
              <a:buChar char="o"/>
            </a:pPr>
            <a:r>
              <a:rPr lang="en-US" dirty="0"/>
              <a:t>Create a task and associate it with the corresponding record</a:t>
            </a:r>
          </a:p>
          <a:p>
            <a:pPr lvl="2">
              <a:buFont typeface="Wingdings" panose="020B0604020202020204" pitchFamily="34" charset="0"/>
              <a:buChar char="§"/>
            </a:pPr>
            <a:r>
              <a:rPr lang="en-US" dirty="0"/>
              <a:t>The task will contain a link to the PDF document</a:t>
            </a:r>
          </a:p>
          <a:p>
            <a:pPr lvl="2">
              <a:buFont typeface="Wingdings" panose="020B0604020202020204" pitchFamily="34" charset="0"/>
              <a:buChar char="§"/>
            </a:pPr>
            <a:r>
              <a:rPr lang="en-US" dirty="0"/>
              <a:t>Have it's status set to In Progress</a:t>
            </a:r>
          </a:p>
          <a:p>
            <a:pPr lvl="1">
              <a:buFont typeface="Courier New" panose="020B0604020202020204" pitchFamily="34" charset="0"/>
              <a:buChar char="o"/>
            </a:pPr>
            <a:r>
              <a:rPr lang="en-US" dirty="0"/>
              <a:t>Find the corresponding notification queue record, and change it's status to completed</a:t>
            </a:r>
          </a:p>
          <a:p>
            <a:r>
              <a:rPr lang="en-US" dirty="0"/>
              <a:t>From an end user perspective, they will see a task associated with the record that initiated the document being generated, and within that task there will be a link to the document</a:t>
            </a:r>
          </a:p>
        </p:txBody>
      </p:sp>
    </p:spTree>
    <p:extLst>
      <p:ext uri="{BB962C8B-B14F-4D97-AF65-F5344CB8AC3E}">
        <p14:creationId xmlns:p14="http://schemas.microsoft.com/office/powerpoint/2010/main" val="3987338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B8338-14C1-B6B7-5210-5AB105788A67}"/>
              </a:ext>
            </a:extLst>
          </p:cNvPr>
          <p:cNvSpPr>
            <a:spLocks noGrp="1"/>
          </p:cNvSpPr>
          <p:nvPr>
            <p:ph type="title"/>
          </p:nvPr>
        </p:nvSpPr>
        <p:spPr/>
        <p:txBody>
          <a:bodyPr/>
          <a:lstStyle/>
          <a:p>
            <a:r>
              <a:rPr lang="en-US" dirty="0"/>
              <a:t>Mailing PDF to Customers End to End Process Cont'd</a:t>
            </a:r>
          </a:p>
        </p:txBody>
      </p:sp>
      <p:sp>
        <p:nvSpPr>
          <p:cNvPr id="3" name="Content Placeholder 2">
            <a:extLst>
              <a:ext uri="{FF2B5EF4-FFF2-40B4-BE49-F238E27FC236}">
                <a16:creationId xmlns:a16="http://schemas.microsoft.com/office/drawing/2014/main" id="{031643B9-75AB-1012-8F8B-EB4D342461B3}"/>
              </a:ext>
            </a:extLst>
          </p:cNvPr>
          <p:cNvSpPr>
            <a:spLocks noGrp="1"/>
          </p:cNvSpPr>
          <p:nvPr>
            <p:ph idx="1"/>
          </p:nvPr>
        </p:nvSpPr>
        <p:spPr/>
        <p:txBody>
          <a:bodyPr vert="horz" lIns="91440" tIns="45720" rIns="91440" bIns="45720" rtlCol="0" anchor="t">
            <a:normAutofit/>
          </a:bodyPr>
          <a:lstStyle/>
          <a:p>
            <a:r>
              <a:rPr lang="en-US" dirty="0"/>
              <a:t>In the evening, OIC will pick up all documents in the Mailouts folder and move them to Oracle Storage</a:t>
            </a:r>
          </a:p>
          <a:p>
            <a:r>
              <a:rPr lang="en-US" dirty="0"/>
              <a:t>Once OIC successfully places them in Oracle Storage, it will send a URL of the new location back to Salesforce</a:t>
            </a:r>
          </a:p>
          <a:p>
            <a:r>
              <a:rPr lang="en-US" dirty="0"/>
              <a:t>Salesforce will then delete the document that's sitting in the Mailouts folder, and update the corresponding task with the URL received by OIC</a:t>
            </a:r>
          </a:p>
          <a:p>
            <a:r>
              <a:rPr lang="en-US" dirty="0"/>
              <a:t>When a user looks at the task again, they'll see that the </a:t>
            </a:r>
            <a:r>
              <a:rPr lang="en-US" dirty="0" err="1"/>
              <a:t>url</a:t>
            </a:r>
            <a:r>
              <a:rPr lang="en-US" dirty="0"/>
              <a:t> changed, and now points to the document sitting in Oracle Storage</a:t>
            </a:r>
          </a:p>
        </p:txBody>
      </p:sp>
    </p:spTree>
    <p:extLst>
      <p:ext uri="{BB962C8B-B14F-4D97-AF65-F5344CB8AC3E}">
        <p14:creationId xmlns:p14="http://schemas.microsoft.com/office/powerpoint/2010/main" val="4099220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7C628-30DC-69FE-BB93-811A2499ED3F}"/>
              </a:ext>
            </a:extLst>
          </p:cNvPr>
          <p:cNvSpPr>
            <a:spLocks noGrp="1"/>
          </p:cNvSpPr>
          <p:nvPr>
            <p:ph type="title"/>
          </p:nvPr>
        </p:nvSpPr>
        <p:spPr>
          <a:xfrm>
            <a:off x="838200" y="365125"/>
            <a:ext cx="10515600" cy="523458"/>
          </a:xfrm>
        </p:spPr>
        <p:txBody>
          <a:bodyPr>
            <a:normAutofit fontScale="90000"/>
          </a:bodyPr>
          <a:lstStyle/>
          <a:p>
            <a:r>
              <a:rPr lang="en-US" dirty="0"/>
              <a:t>More Information</a:t>
            </a:r>
          </a:p>
        </p:txBody>
      </p:sp>
      <p:pic>
        <p:nvPicPr>
          <p:cNvPr id="4" name="Content Placeholder 3" descr="Inserting image...">
            <a:extLst>
              <a:ext uri="{FF2B5EF4-FFF2-40B4-BE49-F238E27FC236}">
                <a16:creationId xmlns:a16="http://schemas.microsoft.com/office/drawing/2014/main" id="{E5B957D6-CD95-F939-CD26-0DEEF2EBDA14}"/>
              </a:ext>
            </a:extLst>
          </p:cNvPr>
          <p:cNvPicPr>
            <a:picLocks noGrp="1" noChangeAspect="1"/>
          </p:cNvPicPr>
          <p:nvPr>
            <p:ph idx="1"/>
          </p:nvPr>
        </p:nvPicPr>
        <p:blipFill>
          <a:blip r:embed="rId3"/>
          <a:stretch>
            <a:fillRect/>
          </a:stretch>
        </p:blipFill>
        <p:spPr>
          <a:xfrm>
            <a:off x="723508" y="953335"/>
            <a:ext cx="8679561" cy="4351338"/>
          </a:xfrm>
        </p:spPr>
      </p:pic>
      <p:sp>
        <p:nvSpPr>
          <p:cNvPr id="6" name="TextBox 5">
            <a:extLst>
              <a:ext uri="{FF2B5EF4-FFF2-40B4-BE49-F238E27FC236}">
                <a16:creationId xmlns:a16="http://schemas.microsoft.com/office/drawing/2014/main" id="{E87DDC18-6EA3-9DD6-65BD-3FB10129918D}"/>
              </a:ext>
            </a:extLst>
          </p:cNvPr>
          <p:cNvSpPr txBox="1"/>
          <p:nvPr/>
        </p:nvSpPr>
        <p:spPr>
          <a:xfrm>
            <a:off x="643690" y="5446295"/>
            <a:ext cx="1011254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Segoe UI"/>
                <a:cs typeface="Segoe UI"/>
                <a:hlinkClick r:id="rId4"/>
              </a:rPr>
              <a:t>https://atcocorporatedigital.atlassian.net/wiki/spaces/PRCR/pages/2343141379/RUBIX+-+Notification+Queue+Documentation</a:t>
            </a:r>
            <a:endParaRPr lang="en-US"/>
          </a:p>
        </p:txBody>
      </p:sp>
    </p:spTree>
    <p:extLst>
      <p:ext uri="{BB962C8B-B14F-4D97-AF65-F5344CB8AC3E}">
        <p14:creationId xmlns:p14="http://schemas.microsoft.com/office/powerpoint/2010/main" val="3205324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DCCCF-3F51-E872-8458-4BAEE51B6DF9}"/>
              </a:ext>
            </a:extLst>
          </p:cNvPr>
          <p:cNvSpPr>
            <a:spLocks noGrp="1"/>
          </p:cNvSpPr>
          <p:nvPr>
            <p:ph type="title"/>
          </p:nvPr>
        </p:nvSpPr>
        <p:spPr/>
        <p:txBody>
          <a:bodyPr/>
          <a:lstStyle/>
          <a:p>
            <a:r>
              <a:rPr lang="en-US" dirty="0"/>
              <a:t>Settings – Key / Value custom settings</a:t>
            </a:r>
          </a:p>
        </p:txBody>
      </p:sp>
      <p:sp>
        <p:nvSpPr>
          <p:cNvPr id="3" name="Content Placeholder 2">
            <a:extLst>
              <a:ext uri="{FF2B5EF4-FFF2-40B4-BE49-F238E27FC236}">
                <a16:creationId xmlns:a16="http://schemas.microsoft.com/office/drawing/2014/main" id="{075D4601-5892-9D49-FE14-BFEBEF1C5109}"/>
              </a:ext>
            </a:extLst>
          </p:cNvPr>
          <p:cNvSpPr>
            <a:spLocks noGrp="1"/>
          </p:cNvSpPr>
          <p:nvPr>
            <p:ph idx="1"/>
          </p:nvPr>
        </p:nvSpPr>
        <p:spPr/>
        <p:txBody>
          <a:bodyPr vert="horz" lIns="91440" tIns="45720" rIns="91440" bIns="45720" rtlCol="0" anchor="t">
            <a:normAutofit fontScale="55000" lnSpcReduction="20000"/>
          </a:bodyPr>
          <a:lstStyle/>
          <a:p>
            <a:r>
              <a:rPr lang="en-US" err="1">
                <a:ea typeface="+mn-lt"/>
                <a:cs typeface="+mn-lt"/>
              </a:rPr>
              <a:t>ER_NotificationQueue_Email_Enabled</a:t>
            </a:r>
            <a:r>
              <a:rPr lang="en-US" dirty="0">
                <a:ea typeface="+mn-lt"/>
                <a:cs typeface="+mn-lt"/>
              </a:rPr>
              <a:t>: Used to control whether emails will be sent via the Notification Queue service. This setting serves as a master switch to enable / disable email delivery. Set to true or false accordingly</a:t>
            </a:r>
          </a:p>
          <a:p>
            <a:r>
              <a:rPr lang="en-US" err="1">
                <a:ea typeface="+mn-lt"/>
                <a:cs typeface="+mn-lt"/>
              </a:rPr>
              <a:t>ER_NotificationQueue_SMS_Enabled</a:t>
            </a:r>
            <a:r>
              <a:rPr lang="en-US" dirty="0">
                <a:ea typeface="+mn-lt"/>
                <a:cs typeface="+mn-lt"/>
              </a:rPr>
              <a:t>: Used to control whether text messages (SMS) will be sent via the Notification Queue service. This setting serves as a master switch to enable / disable text messages. Set to true or false accordingly.</a:t>
            </a:r>
            <a:endParaRPr lang="en-US">
              <a:ea typeface="+mn-lt"/>
              <a:cs typeface="+mn-lt"/>
            </a:endParaRPr>
          </a:p>
          <a:p>
            <a:r>
              <a:rPr lang="en-US" err="1">
                <a:ea typeface="+mn-lt"/>
                <a:cs typeface="+mn-lt"/>
              </a:rPr>
              <a:t>ER_NotificationQueue_RetentionPeriod</a:t>
            </a:r>
            <a:r>
              <a:rPr lang="en-US" dirty="0">
                <a:ea typeface="+mn-lt"/>
                <a:cs typeface="+mn-lt"/>
              </a:rPr>
              <a:t> - Number of days that must pass before the notification clean up process </a:t>
            </a:r>
            <a:r>
              <a:rPr lang="en-US">
                <a:ea typeface="+mn-lt"/>
                <a:cs typeface="+mn-lt"/>
              </a:rPr>
              <a:t>deletes the notification queue record</a:t>
            </a:r>
            <a:endParaRPr lang="en-US" dirty="0">
              <a:ea typeface="+mn-lt"/>
              <a:cs typeface="+mn-lt"/>
            </a:endParaRPr>
          </a:p>
          <a:p>
            <a:r>
              <a:rPr lang="en-US" err="1">
                <a:ea typeface="+mn-lt"/>
                <a:cs typeface="+mn-lt"/>
              </a:rPr>
              <a:t>ER_NotificationQueue_EmailDeleteRange</a:t>
            </a:r>
            <a:r>
              <a:rPr lang="en-US" dirty="0">
                <a:ea typeface="+mn-lt"/>
                <a:cs typeface="+mn-lt"/>
              </a:rPr>
              <a:t> – Maximum number of seconds the notification clean up process will use when attempting to associate a notification queue record and an email message. More information in the clean </a:t>
            </a:r>
            <a:r>
              <a:rPr lang="en-US">
                <a:ea typeface="+mn-lt"/>
                <a:cs typeface="+mn-lt"/>
              </a:rPr>
              <a:t>up section</a:t>
            </a:r>
            <a:endParaRPr lang="en-US" dirty="0">
              <a:ea typeface="+mn-lt"/>
              <a:cs typeface="+mn-lt"/>
            </a:endParaRPr>
          </a:p>
          <a:p>
            <a:r>
              <a:rPr lang="en-US" err="1">
                <a:ea typeface="+mn-lt"/>
                <a:cs typeface="+mn-lt"/>
              </a:rPr>
              <a:t>ER_NotificationQueue_EmailLimit</a:t>
            </a:r>
            <a:r>
              <a:rPr lang="en-US" dirty="0">
                <a:ea typeface="+mn-lt"/>
                <a:cs typeface="+mn-lt"/>
              </a:rPr>
              <a:t> – Represents a overall percentage of how low the </a:t>
            </a:r>
            <a:r>
              <a:rPr lang="en-US" err="1">
                <a:ea typeface="+mn-lt"/>
                <a:cs typeface="+mn-lt"/>
              </a:rPr>
              <a:t>SingleEmail</a:t>
            </a:r>
            <a:r>
              <a:rPr lang="en-US" dirty="0">
                <a:ea typeface="+mn-lt"/>
                <a:cs typeface="+mn-lt"/>
              </a:rPr>
              <a:t> Salesforce limit will get before the Notification Queue stops sending emails. Default is 15, which means the notification queue service will stop sending emails if the overall daily limit drops to 15% or less remaining</a:t>
            </a:r>
          </a:p>
          <a:p>
            <a:r>
              <a:rPr lang="en-US" err="1">
                <a:ea typeface="+mn-lt"/>
                <a:cs typeface="+mn-lt"/>
              </a:rPr>
              <a:t>ER_NotificationQueue_LimitURL</a:t>
            </a:r>
            <a:r>
              <a:rPr lang="en-US" dirty="0">
                <a:ea typeface="+mn-lt"/>
                <a:cs typeface="+mn-lt"/>
              </a:rPr>
              <a:t> - relative URL used to retrieve information on the Single Email delivery limits on the org.  This URL is used to</a:t>
            </a:r>
            <a:r>
              <a:rPr lang="en-US">
                <a:ea typeface="+mn-lt"/>
                <a:cs typeface="+mn-lt"/>
              </a:rPr>
              <a:t> retrieve the current usage and overall limit that is in place</a:t>
            </a:r>
            <a:endParaRPr lang="en-US" dirty="0">
              <a:ea typeface="+mn-lt"/>
              <a:cs typeface="+mn-lt"/>
            </a:endParaRPr>
          </a:p>
          <a:p>
            <a:r>
              <a:rPr lang="en-US" dirty="0" err="1">
                <a:ea typeface="+mn-lt"/>
                <a:cs typeface="+mn-lt"/>
              </a:rPr>
              <a:t>ER_NotificationQueueBatchRecordLimit</a:t>
            </a:r>
            <a:r>
              <a:rPr lang="en-US" dirty="0">
                <a:ea typeface="+mn-lt"/>
                <a:cs typeface="+mn-lt"/>
              </a:rPr>
              <a:t> – Limits the number of pending notification queue records that will be processed in a given batch run. The notification process runs every 30 minutes and will retrieve the maximum number of records specified in this setting.</a:t>
            </a:r>
          </a:p>
        </p:txBody>
      </p:sp>
    </p:spTree>
    <p:extLst>
      <p:ext uri="{BB962C8B-B14F-4D97-AF65-F5344CB8AC3E}">
        <p14:creationId xmlns:p14="http://schemas.microsoft.com/office/powerpoint/2010/main" val="3382154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76513-7CBB-A30A-493A-CA3E42EA505A}"/>
              </a:ext>
            </a:extLst>
          </p:cNvPr>
          <p:cNvSpPr>
            <a:spLocks noGrp="1"/>
          </p:cNvSpPr>
          <p:nvPr>
            <p:ph type="title"/>
          </p:nvPr>
        </p:nvSpPr>
        <p:spPr/>
        <p:txBody>
          <a:bodyPr/>
          <a:lstStyle/>
          <a:p>
            <a:pPr marL="285750" indent="-285750">
              <a:spcBef>
                <a:spcPts val="1000"/>
              </a:spcBef>
              <a:buFont typeface="Arial"/>
              <a:buChar char="•"/>
            </a:pPr>
            <a:r>
              <a:rPr lang="en-US" sz="3600" dirty="0"/>
              <a:t>Custom Metadata - </a:t>
            </a:r>
            <a:r>
              <a:rPr lang="en-US" sz="3600" dirty="0">
                <a:latin typeface="Arial"/>
                <a:cs typeface="Arial"/>
              </a:rPr>
              <a:t>Notification Queue Setting</a:t>
            </a:r>
            <a:endParaRPr lang="en-US" sz="3600" dirty="0">
              <a:solidFill>
                <a:srgbClr val="808080"/>
              </a:solidFill>
              <a:latin typeface="Arial"/>
              <a:cs typeface="Arial"/>
            </a:endParaRPr>
          </a:p>
        </p:txBody>
      </p:sp>
      <p:sp>
        <p:nvSpPr>
          <p:cNvPr id="3" name="Content Placeholder 2">
            <a:extLst>
              <a:ext uri="{FF2B5EF4-FFF2-40B4-BE49-F238E27FC236}">
                <a16:creationId xmlns:a16="http://schemas.microsoft.com/office/drawing/2014/main" id="{D8A95329-62DB-E2CC-D98B-5D2A494271E3}"/>
              </a:ext>
            </a:extLst>
          </p:cNvPr>
          <p:cNvSpPr>
            <a:spLocks noGrp="1"/>
          </p:cNvSpPr>
          <p:nvPr>
            <p:ph idx="1"/>
          </p:nvPr>
        </p:nvSpPr>
        <p:spPr/>
        <p:txBody>
          <a:bodyPr vert="horz" lIns="91440" tIns="45720" rIns="91440" bIns="45720" rtlCol="0" anchor="t">
            <a:normAutofit/>
          </a:bodyPr>
          <a:lstStyle/>
          <a:p>
            <a:r>
              <a:rPr lang="en-US" dirty="0"/>
              <a:t>The Notification Queue Setting custom metadata is used to set up pre-configured notifications that can be easily changed on the fly, without any coding changes.</a:t>
            </a:r>
          </a:p>
          <a:p>
            <a:r>
              <a:rPr lang="en-US" dirty="0"/>
              <a:t>For example, the residential order confirmation email setting is </a:t>
            </a:r>
            <a:r>
              <a:rPr lang="en-US"/>
              <a:t>preconfigured with:</a:t>
            </a:r>
          </a:p>
          <a:p>
            <a:pPr lvl="1">
              <a:buFont typeface="Courier New" panose="020B0604020202020204" pitchFamily="34" charset="0"/>
              <a:buChar char="o"/>
            </a:pPr>
            <a:r>
              <a:rPr lang="en-US" dirty="0"/>
              <a:t>the email template that should be used, </a:t>
            </a:r>
            <a:endParaRPr lang="en-US"/>
          </a:p>
          <a:p>
            <a:pPr lvl="1">
              <a:buFont typeface="Courier New" panose="020B0604020202020204" pitchFamily="34" charset="0"/>
              <a:buChar char="o"/>
            </a:pPr>
            <a:r>
              <a:rPr lang="en-US" dirty="0"/>
              <a:t>The</a:t>
            </a:r>
            <a:r>
              <a:rPr lang="en-US"/>
              <a:t> org-wide email address to use</a:t>
            </a:r>
            <a:endParaRPr lang="en-US" dirty="0"/>
          </a:p>
          <a:p>
            <a:pPr lvl="1">
              <a:buFont typeface="Courier New" panose="020B0604020202020204" pitchFamily="34" charset="0"/>
              <a:buChar char="o"/>
            </a:pPr>
            <a:r>
              <a:rPr lang="en-US" dirty="0"/>
              <a:t>Attachments that should be included. </a:t>
            </a:r>
          </a:p>
          <a:p>
            <a:r>
              <a:rPr lang="en-US" dirty="0"/>
              <a:t>There are many settings that can be pre-configured for a given notification, see the next slide for email and </a:t>
            </a:r>
            <a:r>
              <a:rPr lang="en-US" dirty="0" err="1"/>
              <a:t>sms</a:t>
            </a:r>
            <a:r>
              <a:rPr lang="en-US" dirty="0"/>
              <a:t> specific settings.</a:t>
            </a:r>
          </a:p>
        </p:txBody>
      </p:sp>
    </p:spTree>
    <p:extLst>
      <p:ext uri="{BB962C8B-B14F-4D97-AF65-F5344CB8AC3E}">
        <p14:creationId xmlns:p14="http://schemas.microsoft.com/office/powerpoint/2010/main" val="1739375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76513-7CBB-A30A-493A-CA3E42EA505A}"/>
              </a:ext>
            </a:extLst>
          </p:cNvPr>
          <p:cNvSpPr>
            <a:spLocks noGrp="1"/>
          </p:cNvSpPr>
          <p:nvPr>
            <p:ph type="title"/>
          </p:nvPr>
        </p:nvSpPr>
        <p:spPr/>
        <p:txBody>
          <a:bodyPr/>
          <a:lstStyle/>
          <a:p>
            <a:pPr marL="285750" indent="-285750">
              <a:spcBef>
                <a:spcPts val="1000"/>
              </a:spcBef>
              <a:buFont typeface="Arial"/>
              <a:buChar char="•"/>
            </a:pPr>
            <a:r>
              <a:rPr lang="en-US" sz="3600" dirty="0"/>
              <a:t>Custom Metadata - </a:t>
            </a:r>
            <a:r>
              <a:rPr lang="en-US" sz="3600" dirty="0">
                <a:latin typeface="Arial"/>
                <a:cs typeface="Arial"/>
              </a:rPr>
              <a:t>Notification Queue Setting</a:t>
            </a:r>
            <a:endParaRPr lang="en-US" sz="3600" dirty="0">
              <a:solidFill>
                <a:srgbClr val="808080"/>
              </a:solidFill>
              <a:latin typeface="Arial"/>
              <a:cs typeface="Arial"/>
            </a:endParaRPr>
          </a:p>
        </p:txBody>
      </p:sp>
      <p:sp>
        <p:nvSpPr>
          <p:cNvPr id="3" name="Content Placeholder 2">
            <a:extLst>
              <a:ext uri="{FF2B5EF4-FFF2-40B4-BE49-F238E27FC236}">
                <a16:creationId xmlns:a16="http://schemas.microsoft.com/office/drawing/2014/main" id="{D8A95329-62DB-E2CC-D98B-5D2A494271E3}"/>
              </a:ext>
            </a:extLst>
          </p:cNvPr>
          <p:cNvSpPr>
            <a:spLocks noGrp="1"/>
          </p:cNvSpPr>
          <p:nvPr>
            <p:ph idx="1"/>
          </p:nvPr>
        </p:nvSpPr>
        <p:spPr/>
        <p:txBody>
          <a:bodyPr vert="horz" lIns="91440" tIns="45720" rIns="91440" bIns="45720" rtlCol="0" anchor="t">
            <a:normAutofit/>
          </a:bodyPr>
          <a:lstStyle/>
          <a:p>
            <a:r>
              <a:rPr lang="en-US" dirty="0"/>
              <a:t>Common settings used for across notification types</a:t>
            </a:r>
          </a:p>
          <a:p>
            <a:pPr lvl="1">
              <a:buFont typeface="Courier New" panose="020B0604020202020204" pitchFamily="34" charset="0"/>
              <a:buChar char="o"/>
            </a:pPr>
            <a:r>
              <a:rPr lang="en-US" dirty="0"/>
              <a:t>Type: Indicates the type of notification that the overall notification setting represents, possible values are Email, SMS, Mail, Batch Mail</a:t>
            </a:r>
          </a:p>
          <a:p>
            <a:pPr lvl="1">
              <a:buFont typeface="Courier New" panose="020B0604020202020204" pitchFamily="34" charset="0"/>
              <a:buChar char="o"/>
            </a:pPr>
            <a:r>
              <a:rPr lang="en-US" dirty="0"/>
              <a:t>Custom Send Time:</a:t>
            </a:r>
          </a:p>
          <a:p>
            <a:pPr lvl="1">
              <a:buFont typeface="Courier New" panose="020B0604020202020204" pitchFamily="34" charset="0"/>
              <a:buChar char="o"/>
            </a:pPr>
            <a:r>
              <a:rPr lang="en-US" dirty="0"/>
              <a:t>Results Class Name</a:t>
            </a:r>
          </a:p>
          <a:p>
            <a:pPr lvl="1">
              <a:buFont typeface="Courier New" panose="020B0604020202020204" pitchFamily="34" charset="0"/>
              <a:buChar char="o"/>
            </a:pPr>
            <a:r>
              <a:rPr lang="en-US" dirty="0"/>
              <a:t>Send Time</a:t>
            </a:r>
          </a:p>
          <a:p>
            <a:pPr lvl="1">
              <a:buFont typeface="Courier New" panose="020B0604020202020204" pitchFamily="34" charset="0"/>
              <a:buChar char="o"/>
            </a:pPr>
            <a:endParaRPr lang="en-US" dirty="0"/>
          </a:p>
          <a:p>
            <a:pPr lvl="1">
              <a:buFont typeface="Courier New" panose="020B0604020202020204" pitchFamily="34" charset="0"/>
              <a:buChar char="o"/>
            </a:pPr>
            <a:endParaRPr lang="en-US" dirty="0"/>
          </a:p>
          <a:p>
            <a:pPr lvl="1">
              <a:buFont typeface="Courier New" panose="020B0604020202020204" pitchFamily="34" charset="0"/>
              <a:buChar char="o"/>
            </a:pPr>
            <a:endParaRPr lang="en-US" dirty="0"/>
          </a:p>
          <a:p>
            <a:pPr lvl="1">
              <a:buFont typeface="Courier New" panose="020B0604020202020204" pitchFamily="34" charset="0"/>
              <a:buChar char="o"/>
            </a:pPr>
            <a:endParaRPr lang="en-US" dirty="0"/>
          </a:p>
          <a:p>
            <a:pPr lvl="1">
              <a:buFont typeface="Courier New" panose="020B0604020202020204" pitchFamily="34" charset="0"/>
              <a:buChar char="o"/>
            </a:pPr>
            <a:endParaRPr lang="en-US" dirty="0"/>
          </a:p>
        </p:txBody>
      </p:sp>
    </p:spTree>
    <p:extLst>
      <p:ext uri="{BB962C8B-B14F-4D97-AF65-F5344CB8AC3E}">
        <p14:creationId xmlns:p14="http://schemas.microsoft.com/office/powerpoint/2010/main" val="2133998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76513-7CBB-A30A-493A-CA3E42EA505A}"/>
              </a:ext>
            </a:extLst>
          </p:cNvPr>
          <p:cNvSpPr>
            <a:spLocks noGrp="1"/>
          </p:cNvSpPr>
          <p:nvPr>
            <p:ph type="title"/>
          </p:nvPr>
        </p:nvSpPr>
        <p:spPr/>
        <p:txBody>
          <a:bodyPr/>
          <a:lstStyle/>
          <a:p>
            <a:pPr marL="285750" indent="-285750">
              <a:spcBef>
                <a:spcPts val="1000"/>
              </a:spcBef>
              <a:buFont typeface="Arial"/>
              <a:buChar char="•"/>
            </a:pPr>
            <a:r>
              <a:rPr lang="en-US" sz="3600" dirty="0"/>
              <a:t>Custom Metadata - </a:t>
            </a:r>
            <a:r>
              <a:rPr lang="en-US" sz="3600" dirty="0">
                <a:latin typeface="Arial"/>
                <a:cs typeface="Arial"/>
              </a:rPr>
              <a:t>Notification Queue Setting</a:t>
            </a:r>
            <a:endParaRPr lang="en-US" sz="3600" dirty="0">
              <a:solidFill>
                <a:srgbClr val="808080"/>
              </a:solidFill>
              <a:latin typeface="Arial"/>
              <a:cs typeface="Arial"/>
            </a:endParaRPr>
          </a:p>
        </p:txBody>
      </p:sp>
      <p:sp>
        <p:nvSpPr>
          <p:cNvPr id="3" name="Content Placeholder 2">
            <a:extLst>
              <a:ext uri="{FF2B5EF4-FFF2-40B4-BE49-F238E27FC236}">
                <a16:creationId xmlns:a16="http://schemas.microsoft.com/office/drawing/2014/main" id="{D8A95329-62DB-E2CC-D98B-5D2A494271E3}"/>
              </a:ext>
            </a:extLst>
          </p:cNvPr>
          <p:cNvSpPr>
            <a:spLocks noGrp="1"/>
          </p:cNvSpPr>
          <p:nvPr>
            <p:ph idx="1"/>
          </p:nvPr>
        </p:nvSpPr>
        <p:spPr/>
        <p:txBody>
          <a:bodyPr vert="horz" lIns="91440" tIns="45720" rIns="91440" bIns="45720" rtlCol="0" anchor="t">
            <a:normAutofit fontScale="62500" lnSpcReduction="20000"/>
          </a:bodyPr>
          <a:lstStyle/>
          <a:p>
            <a:r>
              <a:rPr lang="en-US" dirty="0"/>
              <a:t>Email based settings</a:t>
            </a:r>
          </a:p>
          <a:p>
            <a:pPr lvl="1">
              <a:buFont typeface="Courier New" panose="020B0604020202020204" pitchFamily="34" charset="0"/>
              <a:buChar char="o"/>
            </a:pPr>
            <a:r>
              <a:rPr lang="en-US" dirty="0"/>
              <a:t>Attachment </a:t>
            </a:r>
            <a:r>
              <a:rPr lang="en-US" dirty="0" err="1"/>
              <a:t>FileNames</a:t>
            </a:r>
            <a:r>
              <a:rPr lang="en-US" dirty="0"/>
              <a:t> – semi-colon (;) delimited string listing the file names of any attachments that should be included in an email.</a:t>
            </a:r>
          </a:p>
          <a:p>
            <a:pPr lvl="1">
              <a:buFont typeface="Courier New" panose="020B0604020202020204" pitchFamily="34" charset="0"/>
              <a:buChar char="o"/>
            </a:pPr>
            <a:r>
              <a:rPr lang="en-US" dirty="0"/>
              <a:t>Attachment URLs</a:t>
            </a:r>
            <a:r>
              <a:rPr lang="en-US" dirty="0">
                <a:ea typeface="+mn-lt"/>
                <a:cs typeface="+mn-lt"/>
              </a:rPr>
              <a:t> – semi-colon (;) delimited string listing the </a:t>
            </a:r>
            <a:r>
              <a:rPr lang="en-US" dirty="0" err="1">
                <a:ea typeface="+mn-lt"/>
                <a:cs typeface="+mn-lt"/>
              </a:rPr>
              <a:t>url</a:t>
            </a:r>
            <a:r>
              <a:rPr lang="en-US" dirty="0">
                <a:ea typeface="+mn-lt"/>
                <a:cs typeface="+mn-lt"/>
              </a:rPr>
              <a:t> of any attachments that should retrieved, using the </a:t>
            </a:r>
            <a:r>
              <a:rPr lang="en-US" dirty="0" err="1">
                <a:ea typeface="+mn-lt"/>
                <a:cs typeface="+mn-lt"/>
              </a:rPr>
              <a:t>url</a:t>
            </a:r>
            <a:r>
              <a:rPr lang="en-US" dirty="0">
                <a:ea typeface="+mn-lt"/>
                <a:cs typeface="+mn-lt"/>
              </a:rPr>
              <a:t>, and attached in an email.</a:t>
            </a:r>
          </a:p>
          <a:p>
            <a:pPr lvl="1">
              <a:buFont typeface="Courier New" panose="020B0604020202020204" pitchFamily="34" charset="0"/>
              <a:buChar char="o"/>
            </a:pPr>
            <a:r>
              <a:rPr lang="en-US" dirty="0"/>
              <a:t>BCC Email Addresses - </a:t>
            </a:r>
            <a:r>
              <a:rPr lang="en-US" dirty="0">
                <a:ea typeface="+mn-lt"/>
                <a:cs typeface="+mn-lt"/>
              </a:rPr>
              <a:t>semi-colon (;) delimited string listing any email addresses that should be </a:t>
            </a:r>
            <a:r>
              <a:rPr lang="en-US" dirty="0" err="1">
                <a:ea typeface="+mn-lt"/>
                <a:cs typeface="+mn-lt"/>
              </a:rPr>
              <a:t>BCC'd</a:t>
            </a:r>
            <a:r>
              <a:rPr lang="en-US" dirty="0">
                <a:ea typeface="+mn-lt"/>
                <a:cs typeface="+mn-lt"/>
              </a:rPr>
              <a:t> on the email sent.</a:t>
            </a:r>
            <a:endParaRPr lang="en-US" dirty="0"/>
          </a:p>
          <a:p>
            <a:pPr lvl="1">
              <a:buFont typeface="Courier New" panose="020B0604020202020204" pitchFamily="34" charset="0"/>
              <a:buChar char="o"/>
            </a:pPr>
            <a:r>
              <a:rPr lang="en-US" dirty="0"/>
              <a:t>CC Email Addresses </a:t>
            </a:r>
            <a:r>
              <a:rPr lang="en-US" dirty="0">
                <a:ea typeface="+mn-lt"/>
                <a:cs typeface="+mn-lt"/>
              </a:rPr>
              <a:t>- semi-colon (;) delimited string listing any email addresses that should be </a:t>
            </a:r>
            <a:r>
              <a:rPr lang="en-US" dirty="0" err="1">
                <a:ea typeface="+mn-lt"/>
                <a:cs typeface="+mn-lt"/>
              </a:rPr>
              <a:t>CC'd</a:t>
            </a:r>
            <a:r>
              <a:rPr lang="en-US" dirty="0">
                <a:ea typeface="+mn-lt"/>
                <a:cs typeface="+mn-lt"/>
              </a:rPr>
              <a:t> on the email sent.</a:t>
            </a:r>
            <a:endParaRPr lang="en-US" dirty="0"/>
          </a:p>
          <a:p>
            <a:pPr lvl="1">
              <a:buFont typeface="Courier New" panose="020B0604020202020204" pitchFamily="34" charset="0"/>
              <a:buChar char="o"/>
            </a:pPr>
            <a:r>
              <a:rPr lang="en-US" dirty="0"/>
              <a:t>Email Subject – Subject to be used on emails of the given type that are sent out</a:t>
            </a:r>
          </a:p>
          <a:p>
            <a:pPr lvl="1">
              <a:buFont typeface="Courier New" panose="020B0604020202020204" pitchFamily="34" charset="0"/>
              <a:buChar char="o"/>
            </a:pPr>
            <a:r>
              <a:rPr lang="en-US" dirty="0"/>
              <a:t>Org-Wide Address Name - Name of the org-wide email address that should be used when sending the email (i.e. </a:t>
            </a:r>
            <a:r>
              <a:rPr lang="en-US" dirty="0" err="1"/>
              <a:t>ATCOenergy</a:t>
            </a:r>
            <a:r>
              <a:rPr lang="en-US" dirty="0"/>
              <a:t> Collections)</a:t>
            </a:r>
          </a:p>
          <a:p>
            <a:pPr lvl="1">
              <a:buFont typeface="Courier New" panose="020B0604020202020204" pitchFamily="34" charset="0"/>
              <a:buChar char="o"/>
            </a:pPr>
            <a:r>
              <a:rPr lang="en-US" dirty="0"/>
              <a:t>Reply To Email Address - email address that will be designated as the "Reply To" email address sent with a given email</a:t>
            </a:r>
          </a:p>
          <a:p>
            <a:pPr lvl="1">
              <a:buFont typeface="Courier New" panose="020B0604020202020204" pitchFamily="34" charset="0"/>
              <a:buChar char="o"/>
            </a:pPr>
            <a:r>
              <a:rPr lang="en-US" dirty="0">
                <a:ea typeface="+mn-lt"/>
                <a:cs typeface="+mn-lt"/>
              </a:rPr>
              <a:t>Template API Name - Name of the email template that should be used when building and sending the email</a:t>
            </a:r>
          </a:p>
          <a:p>
            <a:r>
              <a:rPr lang="en-US" dirty="0"/>
              <a:t>SMS based settings</a:t>
            </a:r>
          </a:p>
          <a:p>
            <a:pPr lvl="1">
              <a:buFont typeface="Courier New" panose="020B0604020202020204" pitchFamily="34" charset="0"/>
              <a:buChar char="o"/>
            </a:pPr>
            <a:r>
              <a:rPr lang="en-US" dirty="0"/>
              <a:t>SMS Messaging Channel Name – name of messaging channel to use when sending a text message. This can be retrieved from Setup &gt; Messaging Settings, and click on the channel that should be used for sending messages of a given type. The value can be pulled from the Developer Name field on the channel (i.e. Text_CA_698956)</a:t>
            </a:r>
          </a:p>
          <a:p>
            <a:pPr lvl="1">
              <a:buFont typeface="Courier New" panose="020B0604020202020204" pitchFamily="34" charset="0"/>
              <a:buChar char="o"/>
            </a:pPr>
            <a:r>
              <a:rPr lang="en-US" dirty="0">
                <a:ea typeface="+mn-lt"/>
                <a:cs typeface="+mn-lt"/>
              </a:rPr>
              <a:t>Template API Name – Name of Messaging template that would be used to generate and send the message</a:t>
            </a:r>
          </a:p>
          <a:p>
            <a:pPr lvl="1">
              <a:buFont typeface="Courier New" panose="020B0604020202020204" pitchFamily="34" charset="0"/>
              <a:buChar char="o"/>
            </a:pPr>
            <a:endParaRPr lang="en-US" dirty="0"/>
          </a:p>
        </p:txBody>
      </p:sp>
    </p:spTree>
    <p:extLst>
      <p:ext uri="{BB962C8B-B14F-4D97-AF65-F5344CB8AC3E}">
        <p14:creationId xmlns:p14="http://schemas.microsoft.com/office/powerpoint/2010/main" val="216058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76513-7CBB-A30A-493A-CA3E42EA505A}"/>
              </a:ext>
            </a:extLst>
          </p:cNvPr>
          <p:cNvSpPr>
            <a:spLocks noGrp="1"/>
          </p:cNvSpPr>
          <p:nvPr>
            <p:ph type="title"/>
          </p:nvPr>
        </p:nvSpPr>
        <p:spPr/>
        <p:txBody>
          <a:bodyPr/>
          <a:lstStyle/>
          <a:p>
            <a:pPr marL="285750" indent="-285750">
              <a:spcBef>
                <a:spcPts val="1000"/>
              </a:spcBef>
              <a:buFont typeface="Arial"/>
              <a:buChar char="•"/>
            </a:pPr>
            <a:r>
              <a:rPr lang="en-US" sz="3200" dirty="0"/>
              <a:t>Custom Metadata - </a:t>
            </a:r>
            <a:r>
              <a:rPr lang="en-US" sz="3200" dirty="0">
                <a:latin typeface="Arial"/>
                <a:cs typeface="Arial"/>
              </a:rPr>
              <a:t>Credit Collections Event Setting</a:t>
            </a:r>
            <a:endParaRPr lang="en-US" sz="3200" dirty="0">
              <a:solidFill>
                <a:srgbClr val="808080"/>
              </a:solidFill>
              <a:latin typeface="Arial"/>
              <a:cs typeface="Arial"/>
            </a:endParaRPr>
          </a:p>
        </p:txBody>
      </p:sp>
      <p:sp>
        <p:nvSpPr>
          <p:cNvPr id="3" name="Content Placeholder 2">
            <a:extLst>
              <a:ext uri="{FF2B5EF4-FFF2-40B4-BE49-F238E27FC236}">
                <a16:creationId xmlns:a16="http://schemas.microsoft.com/office/drawing/2014/main" id="{D8A95329-62DB-E2CC-D98B-5D2A494271E3}"/>
              </a:ext>
            </a:extLst>
          </p:cNvPr>
          <p:cNvSpPr>
            <a:spLocks noGrp="1"/>
          </p:cNvSpPr>
          <p:nvPr>
            <p:ph idx="1"/>
          </p:nvPr>
        </p:nvSpPr>
        <p:spPr/>
        <p:txBody>
          <a:bodyPr vert="horz" lIns="91440" tIns="45720" rIns="91440" bIns="45720" rtlCol="0" anchor="t">
            <a:normAutofit lnSpcReduction="10000"/>
          </a:bodyPr>
          <a:lstStyle/>
          <a:p>
            <a:r>
              <a:rPr lang="en-US" dirty="0"/>
              <a:t>The </a:t>
            </a:r>
            <a:r>
              <a:rPr lang="en-US" dirty="0">
                <a:ea typeface="+mn-lt"/>
                <a:cs typeface="+mn-lt"/>
              </a:rPr>
              <a:t>Credit_Collections_Event_Template__</a:t>
            </a:r>
            <a:r>
              <a:rPr lang="en-US" dirty="0" err="1">
                <a:ea typeface="+mn-lt"/>
                <a:cs typeface="+mn-lt"/>
              </a:rPr>
              <a:t>mdt</a:t>
            </a:r>
            <a:r>
              <a:rPr lang="en-US" dirty="0">
                <a:ea typeface="+mn-lt"/>
                <a:cs typeface="+mn-lt"/>
              </a:rPr>
              <a:t> custom metadata acts as a mapping between a credit and collection event and the notification queue custom metadata setting that should be used to send a notification via email or mail.</a:t>
            </a:r>
          </a:p>
          <a:p>
            <a:r>
              <a:rPr lang="en-US" dirty="0"/>
              <a:t>For example, a PDN (Pending De-Enrollment) event is configured to use the </a:t>
            </a:r>
            <a:r>
              <a:rPr lang="en-US" dirty="0" err="1">
                <a:ea typeface="+mn-lt"/>
                <a:cs typeface="+mn-lt"/>
              </a:rPr>
              <a:t>Energy_Credit_Collection_PDN_Email_BH</a:t>
            </a:r>
            <a:r>
              <a:rPr lang="en-US" dirty="0">
                <a:ea typeface="+mn-lt"/>
                <a:cs typeface="+mn-lt"/>
              </a:rPr>
              <a:t> custom setting when sending out a PDN email notification to a customer.</a:t>
            </a:r>
          </a:p>
          <a:p>
            <a:r>
              <a:rPr lang="en-US" dirty="0"/>
              <a:t>In the event new credit and collection events arise, that require customer notifications, add a record to this custom metadata, mapping it's credit and collection event to the notification templates that should be used to send a notification.</a:t>
            </a:r>
          </a:p>
          <a:p>
            <a:endParaRPr lang="en-US" dirty="0"/>
          </a:p>
        </p:txBody>
      </p:sp>
    </p:spTree>
    <p:extLst>
      <p:ext uri="{BB962C8B-B14F-4D97-AF65-F5344CB8AC3E}">
        <p14:creationId xmlns:p14="http://schemas.microsoft.com/office/powerpoint/2010/main" val="3554145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C311-DBD4-FF01-A6CC-99E865717E05}"/>
              </a:ext>
            </a:extLst>
          </p:cNvPr>
          <p:cNvSpPr>
            <a:spLocks noGrp="1"/>
          </p:cNvSpPr>
          <p:nvPr>
            <p:ph type="title"/>
          </p:nvPr>
        </p:nvSpPr>
        <p:spPr/>
        <p:txBody>
          <a:bodyPr/>
          <a:lstStyle/>
          <a:p>
            <a:r>
              <a:rPr lang="en-US" dirty="0"/>
              <a:t>Clean up</a:t>
            </a:r>
            <a:r>
              <a:rPr lang="en-US"/>
              <a:t> Process</a:t>
            </a:r>
            <a:endParaRPr lang="en-US" dirty="0"/>
          </a:p>
        </p:txBody>
      </p:sp>
      <p:sp>
        <p:nvSpPr>
          <p:cNvPr id="3" name="Content Placeholder 2">
            <a:extLst>
              <a:ext uri="{FF2B5EF4-FFF2-40B4-BE49-F238E27FC236}">
                <a16:creationId xmlns:a16="http://schemas.microsoft.com/office/drawing/2014/main" id="{0AF737DC-41D0-364C-8C22-08709167B875}"/>
              </a:ext>
            </a:extLst>
          </p:cNvPr>
          <p:cNvSpPr>
            <a:spLocks noGrp="1"/>
          </p:cNvSpPr>
          <p:nvPr>
            <p:ph idx="1"/>
          </p:nvPr>
        </p:nvSpPr>
        <p:spPr/>
        <p:txBody>
          <a:bodyPr vert="horz" lIns="91440" tIns="45720" rIns="91440" bIns="45720" rtlCol="0" anchor="t">
            <a:normAutofit fontScale="92500" lnSpcReduction="20000"/>
          </a:bodyPr>
          <a:lstStyle/>
          <a:p>
            <a:r>
              <a:rPr lang="en-US" dirty="0"/>
              <a:t>To avoid the accumulation of Notification Queue records, a process runs daily at 1:45 am MT that will delete applicable notification queue records.</a:t>
            </a:r>
          </a:p>
          <a:p>
            <a:r>
              <a:rPr lang="en-US" dirty="0"/>
              <a:t>The batch process will start off by retrieving all completed records with a </a:t>
            </a:r>
            <a:r>
              <a:rPr lang="en-US" dirty="0" err="1"/>
              <a:t>Completed_Date_Time__c</a:t>
            </a:r>
            <a:r>
              <a:rPr lang="en-US" dirty="0"/>
              <a:t> older than the number of days specified in the </a:t>
            </a:r>
            <a:r>
              <a:rPr lang="en-US" dirty="0" err="1">
                <a:ea typeface="+mn-lt"/>
                <a:cs typeface="+mn-lt"/>
              </a:rPr>
              <a:t>ER_NotificationQueue_RetentionPeriod</a:t>
            </a:r>
            <a:r>
              <a:rPr lang="en-US" dirty="0">
                <a:ea typeface="+mn-lt"/>
                <a:cs typeface="+mn-lt"/>
              </a:rPr>
              <a:t> custom setting.</a:t>
            </a:r>
            <a:endParaRPr lang="en-US" dirty="0"/>
          </a:p>
          <a:p>
            <a:r>
              <a:rPr lang="en-US" dirty="0"/>
              <a:t>All completed SMS, Mail and Batch Mail records will be deleted immediately</a:t>
            </a:r>
          </a:p>
          <a:p>
            <a:r>
              <a:rPr lang="en-US" dirty="0"/>
              <a:t>All completed Email records will go through a secondary verification to ensure that the related record does indeed have an email message that is not marked as bounced.</a:t>
            </a:r>
          </a:p>
          <a:p>
            <a:pPr lvl="1">
              <a:buFont typeface="Courier New" panose="020B0604020202020204" pitchFamily="34" charset="0"/>
              <a:buChar char="o"/>
            </a:pPr>
            <a:r>
              <a:rPr lang="en-US" dirty="0"/>
              <a:t>This ensures that we do not delete notifications that ultimately ended in a bounced email.</a:t>
            </a:r>
          </a:p>
          <a:p>
            <a:endParaRPr lang="en-US" dirty="0"/>
          </a:p>
        </p:txBody>
      </p:sp>
    </p:spTree>
    <p:extLst>
      <p:ext uri="{BB962C8B-B14F-4D97-AF65-F5344CB8AC3E}">
        <p14:creationId xmlns:p14="http://schemas.microsoft.com/office/powerpoint/2010/main" val="892574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C311-DBD4-FF01-A6CC-99E865717E05}"/>
              </a:ext>
            </a:extLst>
          </p:cNvPr>
          <p:cNvSpPr>
            <a:spLocks noGrp="1"/>
          </p:cNvSpPr>
          <p:nvPr>
            <p:ph type="title"/>
          </p:nvPr>
        </p:nvSpPr>
        <p:spPr/>
        <p:txBody>
          <a:bodyPr/>
          <a:lstStyle/>
          <a:p>
            <a:r>
              <a:rPr lang="en-US" dirty="0"/>
              <a:t>Additional Information</a:t>
            </a:r>
          </a:p>
        </p:txBody>
      </p:sp>
      <p:sp>
        <p:nvSpPr>
          <p:cNvPr id="3" name="Content Placeholder 2">
            <a:extLst>
              <a:ext uri="{FF2B5EF4-FFF2-40B4-BE49-F238E27FC236}">
                <a16:creationId xmlns:a16="http://schemas.microsoft.com/office/drawing/2014/main" id="{0AF737DC-41D0-364C-8C22-08709167B875}"/>
              </a:ext>
            </a:extLst>
          </p:cNvPr>
          <p:cNvSpPr>
            <a:spLocks noGrp="1"/>
          </p:cNvSpPr>
          <p:nvPr>
            <p:ph idx="1"/>
          </p:nvPr>
        </p:nvSpPr>
        <p:spPr/>
        <p:txBody>
          <a:bodyPr vert="horz" lIns="91440" tIns="45720" rIns="91440" bIns="45720" rtlCol="0" anchor="t">
            <a:normAutofit/>
          </a:bodyPr>
          <a:lstStyle/>
          <a:p>
            <a:r>
              <a:rPr lang="en-US" dirty="0">
                <a:ea typeface="+mn-lt"/>
                <a:cs typeface="+mn-lt"/>
                <a:hlinkClick r:id="rId3"/>
              </a:rPr>
              <a:t>RUBIX - Notification Queue Documentation - Project RUBIX (CIS Replacement) - Confluence (atlassian.net)</a:t>
            </a:r>
            <a:endParaRPr lang="en-US"/>
          </a:p>
        </p:txBody>
      </p:sp>
    </p:spTree>
    <p:extLst>
      <p:ext uri="{BB962C8B-B14F-4D97-AF65-F5344CB8AC3E}">
        <p14:creationId xmlns:p14="http://schemas.microsoft.com/office/powerpoint/2010/main" val="2204998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B7163-1703-C7E5-838C-01FAEB63D840}"/>
              </a:ext>
            </a:extLst>
          </p:cNvPr>
          <p:cNvSpPr>
            <a:spLocks noGrp="1"/>
          </p:cNvSpPr>
          <p:nvPr>
            <p:ph type="title"/>
          </p:nvPr>
        </p:nvSpPr>
        <p:spPr/>
        <p:txBody>
          <a:bodyPr/>
          <a:lstStyle/>
          <a:p>
            <a:r>
              <a:rPr lang="en-US" dirty="0"/>
              <a:t>Common Issues</a:t>
            </a:r>
          </a:p>
        </p:txBody>
      </p:sp>
      <p:sp>
        <p:nvSpPr>
          <p:cNvPr id="3" name="Content Placeholder 2">
            <a:extLst>
              <a:ext uri="{FF2B5EF4-FFF2-40B4-BE49-F238E27FC236}">
                <a16:creationId xmlns:a16="http://schemas.microsoft.com/office/drawing/2014/main" id="{9039FF41-31AB-E8C2-F0F8-564FA1C582CE}"/>
              </a:ext>
            </a:extLst>
          </p:cNvPr>
          <p:cNvSpPr>
            <a:spLocks noGrp="1"/>
          </p:cNvSpPr>
          <p:nvPr>
            <p:ph idx="1"/>
          </p:nvPr>
        </p:nvSpPr>
        <p:spPr/>
        <p:txBody>
          <a:bodyPr vert="horz" lIns="91440" tIns="45720" rIns="91440" bIns="45720" rtlCol="0" anchor="t">
            <a:normAutofit/>
          </a:bodyPr>
          <a:lstStyle/>
          <a:p>
            <a:r>
              <a:rPr lang="en-US"/>
              <a:t>Email delivery errors</a:t>
            </a:r>
          </a:p>
          <a:p>
            <a:pPr lvl="1">
              <a:buFont typeface="Courier New" panose="020B0604020202020204" pitchFamily="34" charset="0"/>
              <a:buChar char="o"/>
            </a:pPr>
            <a:r>
              <a:rPr lang="en-US"/>
              <a:t>Workflow fails to send email</a:t>
            </a:r>
            <a:endParaRPr lang="en-US" dirty="0"/>
          </a:p>
          <a:p>
            <a:r>
              <a:rPr lang="en-US"/>
              <a:t>SMS delivery errors</a:t>
            </a:r>
          </a:p>
          <a:p>
            <a:endParaRPr lang="en-US" dirty="0"/>
          </a:p>
        </p:txBody>
      </p:sp>
    </p:spTree>
    <p:extLst>
      <p:ext uri="{BB962C8B-B14F-4D97-AF65-F5344CB8AC3E}">
        <p14:creationId xmlns:p14="http://schemas.microsoft.com/office/powerpoint/2010/main" val="3108165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B7163-1703-C7E5-838C-01FAEB63D840}"/>
              </a:ext>
            </a:extLst>
          </p:cNvPr>
          <p:cNvSpPr>
            <a:spLocks noGrp="1"/>
          </p:cNvSpPr>
          <p:nvPr>
            <p:ph type="title"/>
          </p:nvPr>
        </p:nvSpPr>
        <p:spPr/>
        <p:txBody>
          <a:bodyPr/>
          <a:lstStyle/>
          <a:p>
            <a:r>
              <a:rPr lang="en-US" dirty="0"/>
              <a:t>Common Issues</a:t>
            </a:r>
          </a:p>
        </p:txBody>
      </p:sp>
      <p:sp>
        <p:nvSpPr>
          <p:cNvPr id="3" name="Content Placeholder 2">
            <a:extLst>
              <a:ext uri="{FF2B5EF4-FFF2-40B4-BE49-F238E27FC236}">
                <a16:creationId xmlns:a16="http://schemas.microsoft.com/office/drawing/2014/main" id="{9039FF41-31AB-E8C2-F0F8-564FA1C582CE}"/>
              </a:ext>
            </a:extLst>
          </p:cNvPr>
          <p:cNvSpPr>
            <a:spLocks noGrp="1"/>
          </p:cNvSpPr>
          <p:nvPr>
            <p:ph idx="1"/>
          </p:nvPr>
        </p:nvSpPr>
        <p:spPr/>
        <p:txBody>
          <a:bodyPr vert="horz" lIns="91440" tIns="45720" rIns="91440" bIns="45720" rtlCol="0" anchor="t">
            <a:normAutofit lnSpcReduction="10000"/>
          </a:bodyPr>
          <a:lstStyle/>
          <a:p>
            <a:r>
              <a:rPr lang="en-US"/>
              <a:t>Need to cancel notifications from getting sent</a:t>
            </a:r>
          </a:p>
          <a:p>
            <a:pPr lvl="1">
              <a:buFont typeface="Courier New" panose="020B0604020202020204" pitchFamily="34" charset="0"/>
              <a:buChar char="o"/>
            </a:pPr>
            <a:r>
              <a:rPr lang="en-US" dirty="0"/>
              <a:t>In the event we need to prevent certain notifications from going out to the customer, you can run a query that identifies all the applicable notifications, and either update them as completed, or delete them </a:t>
            </a:r>
            <a:r>
              <a:rPr lang="en-US"/>
              <a:t>altogether</a:t>
            </a:r>
            <a:endParaRPr lang="en-US" dirty="0"/>
          </a:p>
          <a:p>
            <a:pPr lvl="1">
              <a:buFont typeface="Courier New" panose="020B0604020202020204" pitchFamily="34" charset="0"/>
              <a:buChar char="o"/>
            </a:pPr>
            <a:r>
              <a:rPr lang="en-US" dirty="0"/>
              <a:t>For example, running the following query will identify all Email and SMS invoice </a:t>
            </a:r>
            <a:r>
              <a:rPr lang="en-US"/>
              <a:t>notifications</a:t>
            </a:r>
            <a:r>
              <a:rPr lang="en-US" dirty="0"/>
              <a:t> that are schedule to be processed.</a:t>
            </a:r>
            <a:endParaRPr lang="en-US" dirty="0">
              <a:ea typeface="+mn-lt"/>
              <a:cs typeface="+mn-lt"/>
            </a:endParaRPr>
          </a:p>
          <a:p>
            <a:pPr lvl="2">
              <a:buFont typeface="Wingdings" panose="020B0604020202020204" pitchFamily="34" charset="0"/>
              <a:buChar char="§"/>
            </a:pPr>
            <a:r>
              <a:rPr lang="en-US" dirty="0">
                <a:ea typeface="+mn-lt"/>
                <a:cs typeface="+mn-lt"/>
              </a:rPr>
              <a:t>SELECT ID FROM </a:t>
            </a:r>
            <a:r>
              <a:rPr lang="en-US" dirty="0" err="1">
                <a:ea typeface="+mn-lt"/>
                <a:cs typeface="+mn-lt"/>
              </a:rPr>
              <a:t>Notification_Queue__c</a:t>
            </a:r>
            <a:r>
              <a:rPr lang="en-US" dirty="0">
                <a:ea typeface="+mn-lt"/>
                <a:cs typeface="+mn-lt"/>
              </a:rPr>
              <a:t> WHERE </a:t>
            </a:r>
            <a:r>
              <a:rPr lang="en-US" dirty="0" err="1">
                <a:ea typeface="+mn-lt"/>
                <a:cs typeface="+mn-lt"/>
              </a:rPr>
              <a:t>Setting_Name__c</a:t>
            </a:r>
            <a:r>
              <a:rPr lang="en-US" dirty="0">
                <a:ea typeface="+mn-lt"/>
                <a:cs typeface="+mn-lt"/>
              </a:rPr>
              <a:t> IN ('</a:t>
            </a:r>
            <a:r>
              <a:rPr lang="en-US" dirty="0" err="1">
                <a:ea typeface="+mn-lt"/>
                <a:cs typeface="+mn-lt"/>
              </a:rPr>
              <a:t>Energy_Bill_Notification_Email_BH</a:t>
            </a:r>
            <a:r>
              <a:rPr lang="en-US" dirty="0">
                <a:ea typeface="+mn-lt"/>
                <a:cs typeface="+mn-lt"/>
              </a:rPr>
              <a:t>', '</a:t>
            </a:r>
            <a:r>
              <a:rPr lang="en-US" dirty="0" err="1">
                <a:ea typeface="+mn-lt"/>
                <a:cs typeface="+mn-lt"/>
              </a:rPr>
              <a:t>Energy_Bill_Notification_SMS_BH</a:t>
            </a:r>
            <a:r>
              <a:rPr lang="en-US" dirty="0">
                <a:ea typeface="+mn-lt"/>
                <a:cs typeface="+mn-lt"/>
              </a:rPr>
              <a:t>') AND </a:t>
            </a:r>
            <a:r>
              <a:rPr lang="en-US" dirty="0" err="1">
                <a:ea typeface="+mn-lt"/>
                <a:cs typeface="+mn-lt"/>
              </a:rPr>
              <a:t>Status__c</a:t>
            </a:r>
            <a:r>
              <a:rPr lang="en-US" dirty="0">
                <a:ea typeface="+mn-lt"/>
                <a:cs typeface="+mn-lt"/>
              </a:rPr>
              <a:t> = 'Scheduled' </a:t>
            </a:r>
            <a:endParaRPr lang="en-US"/>
          </a:p>
          <a:p>
            <a:pPr lvl="1">
              <a:buFont typeface="Courier New" panose="020B0604020202020204" pitchFamily="34" charset="0"/>
              <a:buChar char="o"/>
            </a:pPr>
            <a:r>
              <a:rPr lang="en-US" dirty="0"/>
              <a:t>You can then use the IDs to delete the records, or update their status to something other than Scheduled so that they no longer get picked up by the</a:t>
            </a:r>
            <a:r>
              <a:rPr lang="en-US"/>
              <a:t> batch process</a:t>
            </a:r>
            <a:endParaRPr lang="en-US" dirty="0"/>
          </a:p>
          <a:p>
            <a:endParaRPr lang="en-US" dirty="0"/>
          </a:p>
        </p:txBody>
      </p:sp>
    </p:spTree>
    <p:extLst>
      <p:ext uri="{BB962C8B-B14F-4D97-AF65-F5344CB8AC3E}">
        <p14:creationId xmlns:p14="http://schemas.microsoft.com/office/powerpoint/2010/main" val="3222561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4E65F4B8502E24ABE26007F17D04634" ma:contentTypeVersion="29" ma:contentTypeDescription="Create a new document." ma:contentTypeScope="" ma:versionID="b7524934cf704e139420eaa6bee87fb8">
  <xsd:schema xmlns:xsd="http://www.w3.org/2001/XMLSchema" xmlns:xs="http://www.w3.org/2001/XMLSchema" xmlns:p="http://schemas.microsoft.com/office/2006/metadata/properties" xmlns:ns2="5c20a38d-28fb-46e1-b76a-132f112fa39e" xmlns:ns3="171507c9-5d29-4658-9fa3-e448e8d1b500" xmlns:ns4="9a617c53-2e20-43df-8eea-c1fde5700dcd" targetNamespace="http://schemas.microsoft.com/office/2006/metadata/properties" ma:root="true" ma:fieldsID="7f0c9561b7d1cce5b0a0448914345d99" ns2:_="" ns3:_="" ns4:_="">
    <xsd:import namespace="5c20a38d-28fb-46e1-b76a-132f112fa39e"/>
    <xsd:import namespace="171507c9-5d29-4658-9fa3-e448e8d1b500"/>
    <xsd:import namespace="9a617c53-2e20-43df-8eea-c1fde5700dcd"/>
    <xsd:element name="properties">
      <xsd:complexType>
        <xsd:sequence>
          <xsd:element name="documentManagement">
            <xsd:complexType>
              <xsd:all>
                <xsd:element ref="ns2:ATCOBusinessUnit" minOccurs="0"/>
                <xsd:element ref="ns2:Year" minOccurs="0"/>
                <xsd:element ref="ns2:Project" minOccurs="0"/>
                <xsd:element ref="ns3:_dlc_DocId" minOccurs="0"/>
                <xsd:element ref="ns3:_dlc_DocIdUrl" minOccurs="0"/>
                <xsd:element ref="ns3:_dlc_DocIdPersistId"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ObjectDetectorVersions" minOccurs="0"/>
                <xsd:element ref="ns2:lcf76f155ced4ddcb4097134ff3c332f" minOccurs="0"/>
                <xsd:element ref="ns4:TaxCatchAll" minOccurs="0"/>
                <xsd:element ref="ns2:MediaServiceOCR" minOccurs="0"/>
                <xsd:element ref="ns2:ImpactedApplicat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20a38d-28fb-46e1-b76a-132f112fa39e" elementFormDefault="qualified">
    <xsd:import namespace="http://schemas.microsoft.com/office/2006/documentManagement/types"/>
    <xsd:import namespace="http://schemas.microsoft.com/office/infopath/2007/PartnerControls"/>
    <xsd:element name="ATCOBusinessUnit" ma:index="2" nillable="true" ma:displayName="ATCO Business Unit" ma:format="Dropdown" ma:internalName="ATCOBusinessUnit">
      <xsd:complexType>
        <xsd:complexContent>
          <xsd:extension base="dms:MultiChoice">
            <xsd:sequence>
              <xsd:element name="Value" maxOccurs="unbounded" minOccurs="0" nillable="true">
                <xsd:simpleType>
                  <xsd:restriction base="dms:Choice">
                    <xsd:enumeration value="ATCO Energy"/>
                    <xsd:enumeration value="Energy Rubiix"/>
                    <xsd:enumeration value="ATCO Energy Home Services"/>
                    <xsd:enumeration value="Blue Flame Kitchen"/>
                    <xsd:enumeration value="ATCO Electric"/>
                    <xsd:enumeration value="ATCO Gas"/>
                    <xsd:enumeration value="ASHCOR"/>
                    <xsd:enumeration value="ATCO Frontec"/>
                    <xsd:enumeration value="ATCO Structures Limited"/>
                    <xsd:enumeration value="ATCO Gas Australia"/>
                    <xsd:enumeration value="ATCO Ventures"/>
                    <xsd:enumeration value="Common Groups"/>
                    <xsd:enumeration value="IT (Demand Management)"/>
                    <xsd:enumeration value="EnPower"/>
                    <xsd:enumeration value="AIS"/>
                    <xsd:enumeration value="Choice 16"/>
                  </xsd:restriction>
                </xsd:simpleType>
              </xsd:element>
            </xsd:sequence>
          </xsd:extension>
        </xsd:complexContent>
      </xsd:complexType>
    </xsd:element>
    <xsd:element name="Year" ma:index="3" nillable="true" ma:displayName="Year" ma:format="Dropdown" ma:indexed="true" ma:internalName="Year" ma:readOnly="false">
      <xsd:simpleType>
        <xsd:restriction base="dms:Text">
          <xsd:maxLength value="4"/>
        </xsd:restriction>
      </xsd:simpleType>
    </xsd:element>
    <xsd:element name="Project" ma:index="5" nillable="true" ma:displayName="Project Name" ma:format="Dropdown" ma:internalName="Project">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9061a0c-0840-43d7-8801-9a0e156c02c3"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hidden="true" ma:internalName="MediaServiceOCR" ma:readOnly="true">
      <xsd:simpleType>
        <xsd:restriction base="dms:Note"/>
      </xsd:simpleType>
    </xsd:element>
    <xsd:element name="ImpactedApplications" ma:index="26" nillable="true" ma:displayName="Impacted Applications" ma:format="Dropdown" ma:internalName="ImpactedApplications">
      <xsd:complexType>
        <xsd:complexContent>
          <xsd:extension base="dms:MultiChoice">
            <xsd:sequence>
              <xsd:element name="Value" maxOccurs="unbounded" minOccurs="0" nillable="true">
                <xsd:simpleType>
                  <xsd:restriction base="dms:Choice">
                    <xsd:enumeration value="AEM"/>
                    <xsd:enumeration value="Canada Post"/>
                    <xsd:enumeration value="CIS"/>
                    <xsd:enumeration value="ESRI GIS"/>
                    <xsd:enumeration value="HPCI"/>
                    <xsd:enumeration value="Moneris"/>
                    <xsd:enumeration value="My ATCO Mobile App"/>
                    <xsd:enumeration value="OIC"/>
                    <xsd:enumeration value="OKTA"/>
                    <xsd:enumeration value="Oracle CCS "/>
                    <xsd:enumeration value="Oracle ERP"/>
                    <xsd:enumeration value="Oracle HCM"/>
                    <xsd:enumeration value="QRadar"/>
                    <xsd:enumeration value="Salesforce"/>
                    <xsd:enumeration value="TalkDesk"/>
                    <xsd:enumeration value="ShipStation"/>
                    <xsd:enumeration value="SplashThat"/>
                    <xsd:enumeration value="Sycurio"/>
                    <xsd:enumeration value="Transunion"/>
                    <xsd:enumeration value="Cvent"/>
                    <xsd:enumeration value="Conga Composer"/>
                    <xsd:enumeration value="Conga CLM "/>
                    <xsd:enumeration value=" Conga Trigger"/>
                    <xsd:enumeration value="Conga Batch  "/>
                    <xsd:enumeration value="Adobe Sign"/>
                    <xsd:enumeration value="Revenue Manager"/>
                    <xsd:enumeration value="Maximo"/>
                    <xsd:enumeration value=" Genesys"/>
                    <xsd:enumeration value="Square"/>
                    <xsd:enumeration value="Shopify"/>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71507c9-5d29-4658-9fa3-e448e8d1b500" elementFormDefault="qualified">
    <xsd:import namespace="http://schemas.microsoft.com/office/2006/documentManagement/types"/>
    <xsd:import namespace="http://schemas.microsoft.com/office/infopath/2007/PartnerControls"/>
    <xsd:element name="_dlc_DocId" ma:index="7" nillable="true" ma:displayName="Document ID Value" ma:description="The value of the document ID assigned to this item." ma:hidden="true" ma:indexed="true" ma:internalName="_dlc_DocId" ma:readOnly="false">
      <xsd:simpleType>
        <xsd:restriction base="dms:Text"/>
      </xsd:simpleType>
    </xsd:element>
    <xsd:element name="_dlc_DocIdUrl" ma:index="8" nillable="true" ma:displayName="Document ID" ma:description="Permanent link to this document." ma:hidden="true" ma:internalName="_dlc_DocId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9" nillable="true" ma:displayName="Persist ID" ma:description="Keep ID on add." ma:hidden="true" ma:internalName="_dlc_DocIdPersistId" ma:readOnly="fals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9a617c53-2e20-43df-8eea-c1fde5700dc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eb826317-c453-4c9d-8807-bc29e29b1941}" ma:internalName="TaxCatchAll" ma:readOnly="false" ma:showField="CatchAllData" ma:web="9a617c53-2e20-43df-8eea-c1fde5700d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c20a38d-28fb-46e1-b76a-132f112fa39e">
      <Terms xmlns="http://schemas.microsoft.com/office/infopath/2007/PartnerControls"/>
    </lcf76f155ced4ddcb4097134ff3c332f>
    <ImpactedApplications xmlns="5c20a38d-28fb-46e1-b76a-132f112fa39e" xsi:nil="true"/>
    <ATCOBusinessUnit xmlns="5c20a38d-28fb-46e1-b76a-132f112fa39e" xsi:nil="true"/>
    <TaxCatchAll xmlns="9a617c53-2e20-43df-8eea-c1fde5700dcd" xsi:nil="true"/>
    <_dlc_DocIdUrl xmlns="171507c9-5d29-4658-9fa3-e448e8d1b500">
      <Url xsi:nil="true"/>
      <Description xsi:nil="true"/>
    </_dlc_DocIdUrl>
    <_dlc_DocId xmlns="171507c9-5d29-4658-9fa3-e448e8d1b500" xsi:nil="true"/>
    <_dlc_DocIdPersistId xmlns="171507c9-5d29-4658-9fa3-e448e8d1b500" xsi:nil="true"/>
    <Project xmlns="5c20a38d-28fb-46e1-b76a-132f112fa39e" xsi:nil="true"/>
    <Year xmlns="5c20a38d-28fb-46e1-b76a-132f112fa39e" xsi:nil="true"/>
  </documentManagement>
</p:properties>
</file>

<file path=customXml/item3.xml><?xml version="1.0" encoding="utf-8"?>
<?mso-contentType ?>
<SharedContentType xmlns="Microsoft.SharePoint.Taxonomy.ContentTypeSync" SourceId="c9061a0c-0840-43d7-8801-9a0e156c02c3" ContentTypeId="0x0101"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spe:Receivers xmlns:spe="http://schemas.microsoft.com/sharepoint/events"/>
</file>

<file path=customXml/itemProps1.xml><?xml version="1.0" encoding="utf-8"?>
<ds:datastoreItem xmlns:ds="http://schemas.openxmlformats.org/officeDocument/2006/customXml" ds:itemID="{39EA18B6-8B16-4F1C-8EA9-5E9BFE177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20a38d-28fb-46e1-b76a-132f112fa39e"/>
    <ds:schemaRef ds:uri="171507c9-5d29-4658-9fa3-e448e8d1b500"/>
    <ds:schemaRef ds:uri="9a617c53-2e20-43df-8eea-c1fde5700d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3CFBC34-A3C2-4340-A906-CE71A412F840}">
  <ds:schemaRefs>
    <ds:schemaRef ds:uri="http://schemas.microsoft.com/office/2006/metadata/properties"/>
    <ds:schemaRef ds:uri="http://schemas.microsoft.com/office/infopath/2007/PartnerControls"/>
    <ds:schemaRef ds:uri="83931f66-2024-4899-9666-5a12b474b1b7"/>
    <ds:schemaRef ds:uri="171507c9-5d29-4658-9fa3-e448e8d1b500"/>
    <ds:schemaRef ds:uri="5c20a38d-28fb-46e1-b76a-132f112fa39e"/>
    <ds:schemaRef ds:uri="9a617c53-2e20-43df-8eea-c1fde5700dcd"/>
  </ds:schemaRefs>
</ds:datastoreItem>
</file>

<file path=customXml/itemProps3.xml><?xml version="1.0" encoding="utf-8"?>
<ds:datastoreItem xmlns:ds="http://schemas.openxmlformats.org/officeDocument/2006/customXml" ds:itemID="{931D8A47-14CC-4245-9166-A9A6E9DB3DE3}">
  <ds:schemaRefs>
    <ds:schemaRef ds:uri="Microsoft.SharePoint.Taxonomy.ContentTypeSync"/>
  </ds:schemaRefs>
</ds:datastoreItem>
</file>

<file path=customXml/itemProps4.xml><?xml version="1.0" encoding="utf-8"?>
<ds:datastoreItem xmlns:ds="http://schemas.openxmlformats.org/officeDocument/2006/customXml" ds:itemID="{16E89DC7-A9D8-4B8E-BA57-ED1BB2D4639B}">
  <ds:schemaRefs>
    <ds:schemaRef ds:uri="http://schemas.microsoft.com/sharepoint/v3/contenttype/forms"/>
  </ds:schemaRefs>
</ds:datastoreItem>
</file>

<file path=customXml/itemProps5.xml><?xml version="1.0" encoding="utf-8"?>
<ds:datastoreItem xmlns:ds="http://schemas.openxmlformats.org/officeDocument/2006/customXml" ds:itemID="{14A063B9-8E7E-4B46-9335-26F893C4FFFF}">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RUBIX – Notifications </vt:lpstr>
      <vt:lpstr>Benefits of the Notification Queue Process</vt:lpstr>
      <vt:lpstr>How does it work?</vt:lpstr>
      <vt:lpstr>Resend an Email or SMS Notification</vt:lpstr>
      <vt:lpstr>Recreate Conga Document/PDF (Type = Mail)</vt:lpstr>
      <vt:lpstr>Recreate Conga Batch Document/PDF (Type =  Batch Mail)</vt:lpstr>
      <vt:lpstr>Mailing PDF to Customers End to End Process</vt:lpstr>
      <vt:lpstr>Mailing PDF to Customers End to End Process Cont'd</vt:lpstr>
      <vt:lpstr>More Information</vt:lpstr>
      <vt:lpstr>Settings – Key / Value custom settings</vt:lpstr>
      <vt:lpstr>Custom Metadata - Notification Queue Setting</vt:lpstr>
      <vt:lpstr>Custom Metadata - Notification Queue Setting</vt:lpstr>
      <vt:lpstr>Custom Metadata - Notification Queue Setting</vt:lpstr>
      <vt:lpstr>Custom Metadata - Credit Collections Event Setting</vt:lpstr>
      <vt:lpstr>Clean up Process</vt:lpstr>
      <vt:lpstr>Additional Information</vt:lpstr>
      <vt:lpstr>Common Issues</vt:lpstr>
      <vt:lpstr>Common Issues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606</cp:revision>
  <dcterms:created xsi:type="dcterms:W3CDTF">2024-02-06T18:23:26Z</dcterms:created>
  <dcterms:modified xsi:type="dcterms:W3CDTF">2026-07-16T20:58:35Z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0x010100B4E65F4B8502E24ABE26007F17D04634</vt:lpwstr>
  </property>
  <property fmtid="{D5CDD505-2E9C-101B-9397-08002B2CF9AE}" pid="3" name="MediaServiceImageTags">
    <vt:lpwstr/>
  </property>
  <property fmtid="{D5CDD505-2E9C-101B-9397-08002B2CF9AE}" pid="4" name="Order">
    <vt:r8>1439900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